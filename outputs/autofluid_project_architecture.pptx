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.svg" ContentType="image/svg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85725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A778C8"/>
    <a:srgbClr val="4F0FBD"/>
    <a:srgbClr val="ED98E6"/>
    <a:srgbClr val="FCFCFC"/>
    <a:srgbClr val="853A4F"/>
    <a:srgbClr val="D8D1DA"/>
    <a:srgbClr val="D7D3D8"/>
    <a:srgbClr val="FCFCFF"/>
    <a:srgbClr val="D8C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0.pn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" name="panel-local"/>
          <p:cNvSpPr>
            <a:spLocks noGrp="1"/>
          </p:cNvSpPr>
          <p:nvPr/>
        </p:nvSpPr>
        <p:spPr>
          <a:xfrm>
            <a:off x="419100" y="1524000"/>
            <a:ext cx="3295650" cy="6169660"/>
          </a:xfrm>
          <a:prstGeom prst="roundRect">
            <a:avLst>
              <a:gd name="adj" fmla="val 4046"/>
            </a:avLst>
          </a:prstGeom>
          <a:solidFill>
            <a:srgbClr val="FBFDFF"/>
          </a:solidFill>
          <a:ln w="11430">
            <a:solidFill>
              <a:srgbClr val="C9D8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panel-server"/>
          <p:cNvSpPr>
            <a:spLocks noGrp="1"/>
          </p:cNvSpPr>
          <p:nvPr/>
        </p:nvSpPr>
        <p:spPr>
          <a:xfrm>
            <a:off x="4130040" y="1524000"/>
            <a:ext cx="3714750" cy="6169660"/>
          </a:xfrm>
          <a:prstGeom prst="roundRect">
            <a:avLst>
              <a:gd name="adj" fmla="val 3590"/>
            </a:avLst>
          </a:prstGeom>
          <a:solidFill>
            <a:srgbClr val="FCFCFF"/>
          </a:solidFill>
          <a:ln w="11430">
            <a:solidFill>
              <a:srgbClr val="D2D2F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panel-workstation"/>
          <p:cNvSpPr>
            <a:spLocks noGrp="1"/>
          </p:cNvSpPr>
          <p:nvPr/>
        </p:nvSpPr>
        <p:spPr>
          <a:xfrm>
            <a:off x="8248015" y="1524000"/>
            <a:ext cx="6534150" cy="6169660"/>
          </a:xfrm>
          <a:prstGeom prst="roundRect">
            <a:avLst>
              <a:gd name="adj" fmla="val 2041"/>
            </a:avLst>
          </a:prstGeom>
          <a:solidFill>
            <a:srgbClr val="FBFFFE"/>
          </a:solidFill>
          <a:ln w="11430">
            <a:solidFill>
              <a:srgbClr val="BFE2D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7" name="local-label"/>
          <p:cNvSpPr>
            <a:spLocks noGrp="1"/>
          </p:cNvSpPr>
          <p:nvPr/>
        </p:nvSpPr>
        <p:spPr>
          <a:xfrm>
            <a:off x="609600" y="16573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</a:rPr>
              <a:t>本地电脑</a:t>
            </a:r>
            <a:endParaRPr sz="2100" b="1">
              <a:solidFill>
                <a:srgbClr val="2563EB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8" name="server-label"/>
          <p:cNvSpPr>
            <a:spLocks noGrp="1"/>
          </p:cNvSpPr>
          <p:nvPr/>
        </p:nvSpPr>
        <p:spPr>
          <a:xfrm>
            <a:off x="4286250" y="16573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4F46E5"/>
                </a:solidFill>
              </a:defRPr>
            </a:pPr>
            <a:r>
              <a:rPr sz="2100" b="1">
                <a:solidFill>
                  <a:srgbClr val="4F46E5"/>
                </a:solidFill>
                <a:latin typeface="HarmonyOS Sans SC" panose="00000500000000000000" charset="-122"/>
                <a:ea typeface="HarmonyOS Sans SC" panose="00000500000000000000" charset="-122"/>
              </a:rPr>
              <a:t>服务器</a:t>
            </a:r>
            <a:endParaRPr sz="2100" b="1">
              <a:solidFill>
                <a:srgbClr val="4F46E5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9" name="ws-label"/>
          <p:cNvSpPr>
            <a:spLocks noGrp="1"/>
          </p:cNvSpPr>
          <p:nvPr/>
        </p:nvSpPr>
        <p:spPr>
          <a:xfrm>
            <a:off x="8477250" y="1657350"/>
            <a:ext cx="615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  <a:latin typeface="HarmonyOS Sans SC" panose="00000500000000000000" charset="-122"/>
                <a:ea typeface="HarmonyOS Sans SC" panose="00000500000000000000" charset="-122"/>
              </a:rPr>
              <a:t>工作站集群</a:t>
            </a:r>
            <a:endParaRPr sz="2100" b="1">
              <a:solidFill>
                <a:srgbClr val="0F766E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0" name="mobile-apps"/>
          <p:cNvSpPr>
            <a:spLocks noGrp="1"/>
          </p:cNvSpPr>
          <p:nvPr/>
        </p:nvSpPr>
        <p:spPr>
          <a:xfrm>
            <a:off x="4965700" y="109855"/>
            <a:ext cx="1974850" cy="1115695"/>
          </a:xfrm>
          <a:prstGeom prst="roundRect">
            <a:avLst>
              <a:gd name="adj" fmla="val 11838"/>
            </a:avLst>
          </a:prstGeom>
          <a:solidFill>
            <a:srgbClr val="FCFCFC"/>
          </a:solidFill>
          <a:ln w="1333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ED98E6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移动端</a:t>
            </a:r>
            <a:endParaRPr sz="1500" b="1">
              <a:solidFill>
                <a:srgbClr val="ED98E6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1" name="frontend-rust-tui"/>
          <p:cNvSpPr>
            <a:spLocks noGrp="1"/>
          </p:cNvSpPr>
          <p:nvPr/>
        </p:nvSpPr>
        <p:spPr>
          <a:xfrm>
            <a:off x="723900" y="2171700"/>
            <a:ext cx="2686050" cy="1809750"/>
          </a:xfrm>
          <a:prstGeom prst="roundRect">
            <a:avLst>
              <a:gd name="adj" fmla="val 6316"/>
            </a:avLst>
          </a:prstGeom>
          <a:solidFill>
            <a:srgbClr val="EAF1FF"/>
          </a:solidFill>
          <a:ln w="13335">
            <a:solidFill>
              <a:srgbClr val="AFC7F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前端</a:t>
            </a:r>
            <a:endParaRPr sz="1725" b="1">
              <a:solidFill>
                <a:srgbClr val="2563EB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lang="en-US" sz="1725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AutoF</a:t>
            </a:r>
            <a:r>
              <a:rPr lang="en-US" sz="1725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luid TUI</a:t>
            </a:r>
            <a:endParaRPr lang="en-US" sz="1725" b="1">
              <a:solidFill>
                <a:srgbClr val="2563EB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3" name="localworker"/>
          <p:cNvSpPr>
            <a:spLocks noGrp="1"/>
          </p:cNvSpPr>
          <p:nvPr/>
        </p:nvSpPr>
        <p:spPr>
          <a:xfrm>
            <a:off x="723900" y="4400550"/>
            <a:ext cx="2686050" cy="2990850"/>
          </a:xfrm>
          <a:prstGeom prst="roundRect">
            <a:avLst>
              <a:gd name="adj" fmla="val 4255"/>
            </a:avLst>
          </a:prstGeom>
          <a:solidFill>
            <a:srgbClr val="EAF1FF"/>
          </a:solidFill>
          <a:ln w="13335">
            <a:solidFill>
              <a:srgbClr val="AFC7F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</a:rPr>
              <a:t>LocalWorker</a:t>
            </a:r>
            <a:endParaRPr sz="1800" b="1">
              <a:solidFill>
                <a:srgbClr val="2563EB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4" name="chip-local-worker"/>
          <p:cNvSpPr>
            <a:spLocks noGrp="1"/>
          </p:cNvSpPr>
          <p:nvPr/>
        </p:nvSpPr>
        <p:spPr>
          <a:xfrm>
            <a:off x="971550" y="4888230"/>
            <a:ext cx="219075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9525">
            <a:solidFill>
              <a:srgbClr val="C6D6F7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本地 </a:t>
            </a:r>
            <a:r>
              <a:rPr lang="en-US" sz="112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W</a:t>
            </a:r>
            <a:r>
              <a:rPr sz="112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orker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5" name="chip-solidworks"/>
          <p:cNvSpPr>
            <a:spLocks noGrp="1"/>
          </p:cNvSpPr>
          <p:nvPr/>
        </p:nvSpPr>
        <p:spPr>
          <a:xfrm>
            <a:off x="995045" y="6059805"/>
            <a:ext cx="1035685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9525">
            <a:solidFill>
              <a:srgbClr val="C6D6F7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SolidWorks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6" name="chip-spaceclaim"/>
          <p:cNvSpPr>
            <a:spLocks noGrp="1"/>
          </p:cNvSpPr>
          <p:nvPr/>
        </p:nvSpPr>
        <p:spPr>
          <a:xfrm>
            <a:off x="2126615" y="5360035"/>
            <a:ext cx="1035685" cy="53340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9525">
            <a:solidFill>
              <a:srgbClr val="C6D6F7"/>
            </a:solidFill>
            <a:prstDash val="solid"/>
          </a:ln>
        </p:spPr>
        <p:txBody>
          <a:bodyPr anchor="ctr" anchorCtr="0"/>
          <a:lstStyle/>
          <a:p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SpaceClaim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Bridge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7" name="localworker-body"/>
          <p:cNvSpPr>
            <a:spLocks noGrp="1"/>
          </p:cNvSpPr>
          <p:nvPr/>
        </p:nvSpPr>
        <p:spPr>
          <a:xfrm>
            <a:off x="914400" y="647700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defRPr sz="1200" b="0">
                <a:solidFill>
                  <a:srgbClr val="172033"/>
                </a:solidFill>
              </a:defRPr>
            </a:pPr>
            <a:endParaRPr sz="120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8" name="openclaw"/>
          <p:cNvSpPr>
            <a:spLocks noGrp="1"/>
          </p:cNvSpPr>
          <p:nvPr/>
        </p:nvSpPr>
        <p:spPr>
          <a:xfrm>
            <a:off x="4434205" y="2114550"/>
            <a:ext cx="1493520" cy="723900"/>
          </a:xfrm>
          <a:prstGeom prst="roundRect">
            <a:avLst>
              <a:gd name="adj" fmla="val 15789"/>
            </a:avLst>
          </a:prstGeom>
          <a:solidFill>
            <a:srgbClr val="FFF4DB"/>
          </a:solidFill>
          <a:ln w="12383">
            <a:solidFill>
              <a:srgbClr val="F1C3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anchor="ctr" anchorCtr="0"/>
          <a:lstStyle/>
          <a:p>
            <a:pPr algn="ctr">
              <a:defRPr sz="15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OpenClaw</a:t>
            </a:r>
            <a:endParaRPr sz="1200" b="1">
              <a:solidFill>
                <a:srgbClr val="B45309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5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通知网关</a:t>
            </a:r>
            <a:endParaRPr sz="1200" b="1">
              <a:solidFill>
                <a:srgbClr val="B45309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5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会话路由</a:t>
            </a:r>
            <a:endParaRPr sz="1200" b="1">
              <a:solidFill>
                <a:srgbClr val="B45309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9" name="alert-watcher"/>
          <p:cNvSpPr>
            <a:spLocks noGrp="1"/>
          </p:cNvSpPr>
          <p:nvPr/>
        </p:nvSpPr>
        <p:spPr>
          <a:xfrm>
            <a:off x="4434205" y="3105150"/>
            <a:ext cx="1493520" cy="723900"/>
          </a:xfrm>
          <a:prstGeom prst="roundRect">
            <a:avLst>
              <a:gd name="adj" fmla="val 15789"/>
            </a:avLst>
          </a:prstGeom>
          <a:solidFill>
            <a:srgbClr val="FFF1E8"/>
          </a:solidFill>
          <a:ln w="12383">
            <a:solidFill>
              <a:srgbClr val="FDBA7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anchor="ctr" anchorCtr="0"/>
          <a:lstStyle/>
          <a:p>
            <a:pPr algn="ctr">
              <a:defRPr sz="1500" b="1">
                <a:solidFill>
                  <a:srgbClr val="C2410C"/>
                </a:solidFill>
              </a:defRPr>
            </a:pPr>
            <a:r>
              <a:rPr lang="en-US" sz="120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A</a:t>
            </a:r>
            <a:r>
              <a:rPr sz="120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lert watcher</a:t>
            </a:r>
            <a:endParaRPr sz="1200" b="1">
              <a:solidFill>
                <a:srgbClr val="C2410C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5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拉取 WARNING+ </a:t>
            </a:r>
            <a:endParaRPr sz="1200" b="1">
              <a:solidFill>
                <a:srgbClr val="C2410C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5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日志</a:t>
            </a:r>
            <a:endParaRPr sz="1200" b="1">
              <a:solidFill>
                <a:srgbClr val="C2410C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20" name="daemon"/>
          <p:cNvSpPr>
            <a:spLocks noGrp="1"/>
          </p:cNvSpPr>
          <p:nvPr/>
        </p:nvSpPr>
        <p:spPr>
          <a:xfrm>
            <a:off x="4434205" y="4152900"/>
            <a:ext cx="3105150" cy="3200400"/>
          </a:xfrm>
          <a:prstGeom prst="roundRect">
            <a:avLst>
              <a:gd name="adj" fmla="val 3681"/>
            </a:avLst>
          </a:prstGeom>
          <a:solidFill>
            <a:srgbClr val="EEF2FF"/>
          </a:solidFill>
          <a:ln w="14288">
            <a:solidFill>
              <a:srgbClr val="B9B7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rPr lang="en-US" sz="1800" b="1">
                <a:solidFill>
                  <a:srgbClr val="4F46E5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D</a:t>
            </a:r>
            <a:r>
              <a:rPr sz="1800" b="1">
                <a:solidFill>
                  <a:srgbClr val="4F46E5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aemon 核心控制</a:t>
            </a:r>
            <a:r>
              <a:rPr lang="zh-CN" sz="1800" b="1">
                <a:solidFill>
                  <a:srgbClr val="4F46E5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器</a:t>
            </a:r>
            <a:endParaRPr lang="zh-CN" sz="1800" b="1">
              <a:solidFill>
                <a:srgbClr val="4F46E5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4660265" y="4648200"/>
            <a:ext cx="2653030" cy="1494790"/>
            <a:chOff x="7290" y="7470"/>
            <a:chExt cx="4178" cy="2354"/>
          </a:xfrm>
        </p:grpSpPr>
        <p:sp>
          <p:nvSpPr>
            <p:cNvPr id="21" name="daemon-PipelineDaemon"/>
            <p:cNvSpPr>
              <a:spLocks noGrp="1"/>
            </p:cNvSpPr>
            <p:nvPr/>
          </p:nvSpPr>
          <p:spPr>
            <a:xfrm>
              <a:off x="7290" y="7470"/>
              <a:ext cx="1996" cy="465"/>
            </a:xfrm>
            <a:prstGeom prst="roundRect">
              <a:avLst>
                <a:gd name="adj" fmla="val 29032"/>
              </a:avLst>
            </a:prstGeom>
            <a:solidFill>
              <a:srgbClr val="FFFFFF"/>
            </a:solidFill>
            <a:ln w="9525">
              <a:solidFill>
                <a:srgbClr val="CDCDF8"/>
              </a:solidFill>
              <a:prstDash val="solid"/>
            </a:ln>
          </p:spPr>
          <p:txBody>
            <a:bodyPr/>
            <a:lstStyle/>
            <a:p>
              <a:pPr algn="ctr">
                <a:defRPr sz="975" b="0">
                  <a:solidFill>
                    <a:srgbClr val="172033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PipelineDaemon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endParaRPr>
            </a:p>
          </p:txBody>
        </p:sp>
        <p:sp>
          <p:nvSpPr>
            <p:cNvPr id="22" name="daemon-IPCServer"/>
            <p:cNvSpPr>
              <a:spLocks noGrp="1"/>
            </p:cNvSpPr>
            <p:nvPr/>
          </p:nvSpPr>
          <p:spPr>
            <a:xfrm>
              <a:off x="9470" y="7470"/>
              <a:ext cx="1998" cy="465"/>
            </a:xfrm>
            <a:prstGeom prst="roundRect">
              <a:avLst>
                <a:gd name="adj" fmla="val 29032"/>
              </a:avLst>
            </a:prstGeom>
            <a:solidFill>
              <a:srgbClr val="FFFFFF"/>
            </a:solidFill>
            <a:ln w="9525">
              <a:solidFill>
                <a:srgbClr val="CDCDF8"/>
              </a:solidFill>
              <a:prstDash val="solid"/>
            </a:ln>
          </p:spPr>
          <p:txBody>
            <a:bodyPr/>
            <a:lstStyle/>
            <a:p>
              <a:pPr algn="ctr">
                <a:defRPr sz="975" b="0">
                  <a:solidFill>
                    <a:srgbClr val="172033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IPCServer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endParaRPr>
            </a:p>
          </p:txBody>
        </p:sp>
        <p:sp>
          <p:nvSpPr>
            <p:cNvPr id="23" name="daemon-StateManager SQLite"/>
            <p:cNvSpPr>
              <a:spLocks noGrp="1"/>
            </p:cNvSpPr>
            <p:nvPr/>
          </p:nvSpPr>
          <p:spPr>
            <a:xfrm>
              <a:off x="7290" y="8100"/>
              <a:ext cx="1996" cy="465"/>
            </a:xfrm>
            <a:prstGeom prst="roundRect">
              <a:avLst>
                <a:gd name="adj" fmla="val 29032"/>
              </a:avLst>
            </a:prstGeom>
            <a:solidFill>
              <a:srgbClr val="FFFFFF"/>
            </a:solidFill>
            <a:ln w="9525">
              <a:solidFill>
                <a:srgbClr val="CDCDF8"/>
              </a:solidFill>
              <a:prstDash val="solid"/>
            </a:ln>
          </p:spPr>
          <p:txBody>
            <a:bodyPr/>
            <a:lstStyle/>
            <a:p>
              <a:pPr algn="ctr">
                <a:defRPr sz="975" b="0">
                  <a:solidFill>
                    <a:srgbClr val="172033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StateManager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endParaRPr>
            </a:p>
          </p:txBody>
        </p:sp>
        <p:sp>
          <p:nvSpPr>
            <p:cNvPr id="24" name="daemon-PipelineScheduler"/>
            <p:cNvSpPr>
              <a:spLocks noGrp="1"/>
            </p:cNvSpPr>
            <p:nvPr/>
          </p:nvSpPr>
          <p:spPr>
            <a:xfrm>
              <a:off x="9470" y="8100"/>
              <a:ext cx="1998" cy="465"/>
            </a:xfrm>
            <a:prstGeom prst="roundRect">
              <a:avLst>
                <a:gd name="adj" fmla="val 29032"/>
              </a:avLst>
            </a:prstGeom>
            <a:solidFill>
              <a:srgbClr val="FFFFFF"/>
            </a:solidFill>
            <a:ln w="9525">
              <a:solidFill>
                <a:srgbClr val="CDCDF8"/>
              </a:solidFill>
              <a:prstDash val="solid"/>
            </a:ln>
          </p:spPr>
          <p:txBody>
            <a:bodyPr/>
            <a:lstStyle/>
            <a:p>
              <a:pPr algn="ctr">
                <a:defRPr sz="975" b="0">
                  <a:solidFill>
                    <a:srgbClr val="172033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PipelineScheduler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endParaRPr>
            </a:p>
          </p:txBody>
        </p:sp>
        <p:sp>
          <p:nvSpPr>
            <p:cNvPr id="25" name="daemon-TaskRunner"/>
            <p:cNvSpPr>
              <a:spLocks noGrp="1"/>
            </p:cNvSpPr>
            <p:nvPr/>
          </p:nvSpPr>
          <p:spPr>
            <a:xfrm>
              <a:off x="7290" y="8730"/>
              <a:ext cx="1996" cy="465"/>
            </a:xfrm>
            <a:prstGeom prst="roundRect">
              <a:avLst>
                <a:gd name="adj" fmla="val 29032"/>
              </a:avLst>
            </a:prstGeom>
            <a:solidFill>
              <a:srgbClr val="FFFFFF"/>
            </a:solidFill>
            <a:ln w="9525">
              <a:solidFill>
                <a:srgbClr val="CDCDF8"/>
              </a:solidFill>
              <a:prstDash val="solid"/>
            </a:ln>
          </p:spPr>
          <p:txBody>
            <a:bodyPr/>
            <a:lstStyle/>
            <a:p>
              <a:pPr algn="ctr">
                <a:defRPr sz="975" b="0">
                  <a:solidFill>
                    <a:srgbClr val="172033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TaskRunner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endParaRPr>
            </a:p>
          </p:txBody>
        </p:sp>
        <p:sp>
          <p:nvSpPr>
            <p:cNvPr id="26" name="daemon-RemoteExecutor"/>
            <p:cNvSpPr>
              <a:spLocks noGrp="1"/>
            </p:cNvSpPr>
            <p:nvPr/>
          </p:nvSpPr>
          <p:spPr>
            <a:xfrm>
              <a:off x="9470" y="8730"/>
              <a:ext cx="1998" cy="465"/>
            </a:xfrm>
            <a:prstGeom prst="roundRect">
              <a:avLst>
                <a:gd name="adj" fmla="val 29032"/>
              </a:avLst>
            </a:prstGeom>
            <a:solidFill>
              <a:srgbClr val="FFFFFF"/>
            </a:solidFill>
            <a:ln w="9525">
              <a:solidFill>
                <a:srgbClr val="CDCDF8"/>
              </a:solidFill>
              <a:prstDash val="solid"/>
            </a:ln>
          </p:spPr>
          <p:txBody>
            <a:bodyPr/>
            <a:lstStyle/>
            <a:p>
              <a:pPr algn="ctr">
                <a:defRPr sz="975" b="0">
                  <a:solidFill>
                    <a:srgbClr val="172033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RemoteExecutor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endParaRPr>
            </a:p>
          </p:txBody>
        </p:sp>
        <p:sp>
          <p:nvSpPr>
            <p:cNvPr id="27" name="daemon-SCDOC 缓存"/>
            <p:cNvSpPr>
              <a:spLocks noGrp="1"/>
            </p:cNvSpPr>
            <p:nvPr/>
          </p:nvSpPr>
          <p:spPr>
            <a:xfrm>
              <a:off x="7290" y="9360"/>
              <a:ext cx="1996" cy="465"/>
            </a:xfrm>
            <a:prstGeom prst="roundRect">
              <a:avLst>
                <a:gd name="adj" fmla="val 29032"/>
              </a:avLst>
            </a:prstGeom>
            <a:solidFill>
              <a:srgbClr val="FFFFFF"/>
            </a:solidFill>
            <a:ln w="9525">
              <a:solidFill>
                <a:srgbClr val="CDCDF8"/>
              </a:solidFill>
              <a:prstDash val="solid"/>
            </a:ln>
          </p:spPr>
          <p:txBody>
            <a:bodyPr/>
            <a:lstStyle/>
            <a:p>
              <a:pPr algn="ctr">
                <a:defRPr sz="975" b="0">
                  <a:solidFill>
                    <a:srgbClr val="172033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SCDOC 缓存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" name="daemon-日志广播缓冲区"/>
            <p:cNvSpPr>
              <a:spLocks noGrp="1"/>
            </p:cNvSpPr>
            <p:nvPr/>
          </p:nvSpPr>
          <p:spPr>
            <a:xfrm>
              <a:off x="9470" y="9360"/>
              <a:ext cx="1998" cy="465"/>
            </a:xfrm>
            <a:prstGeom prst="roundRect">
              <a:avLst>
                <a:gd name="adj" fmla="val 29032"/>
              </a:avLst>
            </a:prstGeom>
            <a:solidFill>
              <a:srgbClr val="FFFFFF"/>
            </a:solidFill>
            <a:ln w="9525">
              <a:solidFill>
                <a:srgbClr val="CDCDF8"/>
              </a:solidFill>
              <a:prstDash val="solid"/>
            </a:ln>
          </p:spPr>
          <p:txBody>
            <a:bodyPr/>
            <a:lstStyle/>
            <a:p>
              <a:pPr algn="ctr">
                <a:defRPr sz="975" b="0">
                  <a:solidFill>
                    <a:srgbClr val="172033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日志广播缓冲区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endParaRPr>
            </a:p>
          </p:txBody>
        </p:sp>
      </p:grpSp>
      <p:sp>
        <p:nvSpPr>
          <p:cNvPr id="30" name="workstation-WS-A"/>
          <p:cNvSpPr>
            <a:spLocks noGrp="1"/>
          </p:cNvSpPr>
          <p:nvPr/>
        </p:nvSpPr>
        <p:spPr>
          <a:xfrm>
            <a:off x="8553450" y="2266950"/>
            <a:ext cx="1352550" cy="4438015"/>
          </a:xfrm>
          <a:prstGeom prst="roundRect">
            <a:avLst>
              <a:gd name="adj" fmla="val 8451"/>
            </a:avLst>
          </a:prstGeom>
          <a:solidFill>
            <a:srgbClr val="E7F6F3"/>
          </a:solidFill>
          <a:ln w="12383">
            <a:solidFill>
              <a:srgbClr val="8BD1C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  <a:latin typeface="HarmonyOS Sans SC" panose="00000500000000000000" charset="-122"/>
                <a:ea typeface="HarmonyOS Sans SC" panose="00000500000000000000" charset="-122"/>
              </a:rPr>
              <a:t>WS-A</a:t>
            </a:r>
            <a:endParaRPr sz="1650" b="1">
              <a:solidFill>
                <a:srgbClr val="0F766E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1" name="ws-WS-A-SSH-Tunnel-Monitor"/>
          <p:cNvSpPr>
            <a:spLocks noGrp="1"/>
          </p:cNvSpPr>
          <p:nvPr/>
        </p:nvSpPr>
        <p:spPr>
          <a:xfrm>
            <a:off x="8677275" y="278130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SSH Tunnel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Monitor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2" name="ws-WS-A-OpenSSH-Server"/>
          <p:cNvSpPr>
            <a:spLocks noGrp="1"/>
          </p:cNvSpPr>
          <p:nvPr/>
        </p:nvSpPr>
        <p:spPr>
          <a:xfrm>
            <a:off x="8677275" y="334391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OpenSSH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Server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3" name="ws-WS-A-Remote-Worker"/>
          <p:cNvSpPr>
            <a:spLocks noGrp="1"/>
          </p:cNvSpPr>
          <p:nvPr/>
        </p:nvSpPr>
        <p:spPr>
          <a:xfrm>
            <a:off x="8677275" y="390652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Remote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Worker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4" name="ws-WS-A-ANSYS-Fluent"/>
          <p:cNvSpPr>
            <a:spLocks noGrp="1"/>
          </p:cNvSpPr>
          <p:nvPr/>
        </p:nvSpPr>
        <p:spPr>
          <a:xfrm>
            <a:off x="8677275" y="446913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ANSYS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Fluent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5" name="ws-WS-A-flag---log-pid-files"/>
          <p:cNvSpPr>
            <a:spLocks noGrp="1"/>
          </p:cNvSpPr>
          <p:nvPr/>
        </p:nvSpPr>
        <p:spPr>
          <a:xfrm>
            <a:off x="8677275" y="503174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flag / log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pid files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6" name="ws-WS-A-scdoc---msh-case"/>
          <p:cNvSpPr>
            <a:spLocks noGrp="1"/>
          </p:cNvSpPr>
          <p:nvPr/>
        </p:nvSpPr>
        <p:spPr>
          <a:xfrm>
            <a:off x="8677275" y="559435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scdoc / msh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case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7" name="ws-WS-A-animation-metrics"/>
          <p:cNvSpPr>
            <a:spLocks noGrp="1"/>
          </p:cNvSpPr>
          <p:nvPr/>
        </p:nvSpPr>
        <p:spPr>
          <a:xfrm>
            <a:off x="8677275" y="615696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animation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metrics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8" name="workstation-WS-B"/>
          <p:cNvSpPr>
            <a:spLocks noGrp="1"/>
          </p:cNvSpPr>
          <p:nvPr/>
        </p:nvSpPr>
        <p:spPr>
          <a:xfrm>
            <a:off x="10077450" y="2266950"/>
            <a:ext cx="1352550" cy="4438015"/>
          </a:xfrm>
          <a:prstGeom prst="roundRect">
            <a:avLst>
              <a:gd name="adj" fmla="val 8451"/>
            </a:avLst>
          </a:prstGeom>
          <a:solidFill>
            <a:srgbClr val="E7F6F3"/>
          </a:solidFill>
          <a:ln w="12383">
            <a:solidFill>
              <a:srgbClr val="8BD1C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  <a:latin typeface="HarmonyOS Sans SC" panose="00000500000000000000" charset="-122"/>
                <a:ea typeface="HarmonyOS Sans SC" panose="00000500000000000000" charset="-122"/>
              </a:rPr>
              <a:t>WS-B</a:t>
            </a:r>
            <a:endParaRPr sz="1650" b="1">
              <a:solidFill>
                <a:srgbClr val="0F766E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9" name="ws-WS-B-SSH-Tunnel-Monitor"/>
          <p:cNvSpPr>
            <a:spLocks noGrp="1"/>
          </p:cNvSpPr>
          <p:nvPr/>
        </p:nvSpPr>
        <p:spPr>
          <a:xfrm>
            <a:off x="10201275" y="278130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SSH Tunnel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Monitor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0" name="ws-WS-B-OpenSSH-Server"/>
          <p:cNvSpPr>
            <a:spLocks noGrp="1"/>
          </p:cNvSpPr>
          <p:nvPr/>
        </p:nvSpPr>
        <p:spPr>
          <a:xfrm>
            <a:off x="10201275" y="334391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OpenSSH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Server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1" name="ws-WS-B-Remote-Worker"/>
          <p:cNvSpPr>
            <a:spLocks noGrp="1"/>
          </p:cNvSpPr>
          <p:nvPr/>
        </p:nvSpPr>
        <p:spPr>
          <a:xfrm>
            <a:off x="10201275" y="390652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Remote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Worker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2" name="ws-WS-B-ANSYS-Fluent"/>
          <p:cNvSpPr>
            <a:spLocks noGrp="1"/>
          </p:cNvSpPr>
          <p:nvPr/>
        </p:nvSpPr>
        <p:spPr>
          <a:xfrm>
            <a:off x="10201275" y="446913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ANSYS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Fluent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3" name="ws-WS-B-flag---log-pid-files"/>
          <p:cNvSpPr>
            <a:spLocks noGrp="1"/>
          </p:cNvSpPr>
          <p:nvPr/>
        </p:nvSpPr>
        <p:spPr>
          <a:xfrm>
            <a:off x="10201275" y="503174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flag / log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pid files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4" name="ws-WS-B-scdoc---msh-case"/>
          <p:cNvSpPr>
            <a:spLocks noGrp="1"/>
          </p:cNvSpPr>
          <p:nvPr/>
        </p:nvSpPr>
        <p:spPr>
          <a:xfrm>
            <a:off x="10201275" y="559435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scdoc / msh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case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5" name="ws-WS-B-animation-metrics"/>
          <p:cNvSpPr>
            <a:spLocks noGrp="1"/>
          </p:cNvSpPr>
          <p:nvPr/>
        </p:nvSpPr>
        <p:spPr>
          <a:xfrm>
            <a:off x="10201275" y="615696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animation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metrics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6" name="workstation-WS-C"/>
          <p:cNvSpPr>
            <a:spLocks noGrp="1"/>
          </p:cNvSpPr>
          <p:nvPr/>
        </p:nvSpPr>
        <p:spPr>
          <a:xfrm>
            <a:off x="11601450" y="2266950"/>
            <a:ext cx="1352550" cy="4438015"/>
          </a:xfrm>
          <a:prstGeom prst="roundRect">
            <a:avLst>
              <a:gd name="adj" fmla="val 8451"/>
            </a:avLst>
          </a:prstGeom>
          <a:solidFill>
            <a:srgbClr val="E7F6F3"/>
          </a:solidFill>
          <a:ln w="12383">
            <a:solidFill>
              <a:srgbClr val="8BD1C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  <a:latin typeface="HarmonyOS Sans SC" panose="00000500000000000000" charset="-122"/>
                <a:ea typeface="HarmonyOS Sans SC" panose="00000500000000000000" charset="-122"/>
              </a:rPr>
              <a:t>WS-C</a:t>
            </a:r>
            <a:endParaRPr sz="1650" b="1">
              <a:solidFill>
                <a:srgbClr val="0F766E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7" name="ws-WS-C-SSH-Tunnel-Monitor"/>
          <p:cNvSpPr>
            <a:spLocks noGrp="1"/>
          </p:cNvSpPr>
          <p:nvPr/>
        </p:nvSpPr>
        <p:spPr>
          <a:xfrm>
            <a:off x="11725275" y="278130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SSH Tunnel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Monitor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8" name="ws-WS-C-OpenSSH-Server"/>
          <p:cNvSpPr>
            <a:spLocks noGrp="1"/>
          </p:cNvSpPr>
          <p:nvPr/>
        </p:nvSpPr>
        <p:spPr>
          <a:xfrm>
            <a:off x="11725275" y="334391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OpenSSH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Server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9" name="ws-WS-C-Remote-Worker"/>
          <p:cNvSpPr>
            <a:spLocks noGrp="1"/>
          </p:cNvSpPr>
          <p:nvPr/>
        </p:nvSpPr>
        <p:spPr>
          <a:xfrm>
            <a:off x="11725275" y="390652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Remote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Worker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0" name="ws-WS-C-ANSYS-Fluent"/>
          <p:cNvSpPr>
            <a:spLocks noGrp="1"/>
          </p:cNvSpPr>
          <p:nvPr/>
        </p:nvSpPr>
        <p:spPr>
          <a:xfrm>
            <a:off x="11725275" y="446913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ANSYS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Fluent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1" name="ws-WS-C-flag---log-pid-files"/>
          <p:cNvSpPr>
            <a:spLocks noGrp="1"/>
          </p:cNvSpPr>
          <p:nvPr/>
        </p:nvSpPr>
        <p:spPr>
          <a:xfrm>
            <a:off x="11725275" y="503174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flag / log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pid files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2" name="ws-WS-C-scdoc---msh-case"/>
          <p:cNvSpPr>
            <a:spLocks noGrp="1"/>
          </p:cNvSpPr>
          <p:nvPr/>
        </p:nvSpPr>
        <p:spPr>
          <a:xfrm>
            <a:off x="11725275" y="559435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scdoc / msh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case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3" name="ws-WS-C-animation-metrics"/>
          <p:cNvSpPr>
            <a:spLocks noGrp="1"/>
          </p:cNvSpPr>
          <p:nvPr/>
        </p:nvSpPr>
        <p:spPr>
          <a:xfrm>
            <a:off x="11725275" y="615696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animation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metrics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4" name="workstation-WS-D"/>
          <p:cNvSpPr>
            <a:spLocks noGrp="1"/>
          </p:cNvSpPr>
          <p:nvPr/>
        </p:nvSpPr>
        <p:spPr>
          <a:xfrm>
            <a:off x="13125450" y="2266950"/>
            <a:ext cx="1352550" cy="4438015"/>
          </a:xfrm>
          <a:prstGeom prst="roundRect">
            <a:avLst>
              <a:gd name="adj" fmla="val 8451"/>
            </a:avLst>
          </a:prstGeom>
          <a:solidFill>
            <a:srgbClr val="E7F6F3"/>
          </a:solidFill>
          <a:ln w="12383">
            <a:solidFill>
              <a:srgbClr val="8BD1C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  <a:latin typeface="HarmonyOS Sans SC" panose="00000500000000000000" charset="-122"/>
                <a:ea typeface="HarmonyOS Sans SC" panose="00000500000000000000" charset="-122"/>
              </a:rPr>
              <a:t>WS-D</a:t>
            </a:r>
            <a:endParaRPr sz="1650" b="1">
              <a:solidFill>
                <a:srgbClr val="0F766E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5" name="ws-WS-D-SSH-Tunnel-Monitor"/>
          <p:cNvSpPr>
            <a:spLocks noGrp="1"/>
          </p:cNvSpPr>
          <p:nvPr/>
        </p:nvSpPr>
        <p:spPr>
          <a:xfrm>
            <a:off x="13249275" y="278130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SSH Tunnel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Monitor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6" name="ws-WS-D-OpenSSH-Server"/>
          <p:cNvSpPr>
            <a:spLocks noGrp="1"/>
          </p:cNvSpPr>
          <p:nvPr/>
        </p:nvSpPr>
        <p:spPr>
          <a:xfrm>
            <a:off x="13249275" y="334391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OpenSSH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Server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7" name="ws-WS-D-Remote-Worker"/>
          <p:cNvSpPr>
            <a:spLocks noGrp="1"/>
          </p:cNvSpPr>
          <p:nvPr/>
        </p:nvSpPr>
        <p:spPr>
          <a:xfrm>
            <a:off x="13249275" y="390652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Remote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Worker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8" name="ws-WS-D-ANSYS-Fluent"/>
          <p:cNvSpPr>
            <a:spLocks noGrp="1"/>
          </p:cNvSpPr>
          <p:nvPr/>
        </p:nvSpPr>
        <p:spPr>
          <a:xfrm>
            <a:off x="13249275" y="446913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ANSYS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Fluent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9" name="ws-WS-D-flag---log-pid-files"/>
          <p:cNvSpPr>
            <a:spLocks noGrp="1"/>
          </p:cNvSpPr>
          <p:nvPr/>
        </p:nvSpPr>
        <p:spPr>
          <a:xfrm>
            <a:off x="13249275" y="503174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flag / log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pid files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60" name="ws-WS-D-scdoc---msh-case"/>
          <p:cNvSpPr>
            <a:spLocks noGrp="1"/>
          </p:cNvSpPr>
          <p:nvPr/>
        </p:nvSpPr>
        <p:spPr>
          <a:xfrm>
            <a:off x="13249275" y="559435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scdoc / msh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case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66" name="label-日志广播 / 拉取"/>
          <p:cNvSpPr>
            <a:spLocks noGrp="1"/>
          </p:cNvSpPr>
          <p:nvPr/>
        </p:nvSpPr>
        <p:spPr>
          <a:xfrm>
            <a:off x="4347845" y="3830955"/>
            <a:ext cx="139065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/>
          <a:p>
            <a:pPr lvl="0" algn="r">
              <a:buClrTx/>
              <a:buSzTx/>
              <a:buFontTx/>
              <a:defRPr sz="1050" b="1">
                <a:solidFill>
                  <a:srgbClr val="C2410C"/>
                </a:solidFill>
              </a:defRPr>
            </a:pPr>
            <a:r>
              <a:rPr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日志广播 / 拉取</a:t>
            </a:r>
            <a:endParaRPr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61" name="ws-WS-D-animation-metrics"/>
          <p:cNvSpPr>
            <a:spLocks noGrp="1"/>
          </p:cNvSpPr>
          <p:nvPr/>
        </p:nvSpPr>
        <p:spPr>
          <a:xfrm>
            <a:off x="13249275" y="6156960"/>
            <a:ext cx="11049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A8DCD5"/>
            </a:solidFill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animation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  <a:p>
            <a:pPr algn="ctr">
              <a:defRPr sz="940" b="0">
                <a:solidFill>
                  <a:srgbClr val="172033"/>
                </a:solidFill>
              </a:defRPr>
            </a:pPr>
            <a:r>
              <a:rPr sz="94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</a:rPr>
              <a:t>metrics</a:t>
            </a:r>
            <a:endParaRPr sz="94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62" name="label-SSH 本地端口转发 /"/>
          <p:cNvSpPr>
            <a:spLocks noGrp="1"/>
          </p:cNvSpPr>
          <p:nvPr/>
        </p:nvSpPr>
        <p:spPr>
          <a:xfrm rot="5400000">
            <a:off x="2941320" y="1933575"/>
            <a:ext cx="196215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r">
              <a:defRPr sz="1050" b="1">
                <a:solidFill>
                  <a:srgbClr val="2563EB"/>
                </a:solidFill>
              </a:defRPr>
            </a:pPr>
            <a:r>
              <a:rPr lang="zh-CN" sz="1050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组件拉起</a:t>
            </a:r>
            <a:r>
              <a:rPr sz="1050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 / IPC</a:t>
            </a:r>
            <a:r>
              <a:rPr lang="zh-CN" sz="1050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远程</a:t>
            </a:r>
            <a:r>
              <a:rPr lang="zh-CN" sz="1050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控制</a:t>
            </a:r>
            <a:endParaRPr lang="zh-CN" sz="1050" b="1">
              <a:solidFill>
                <a:srgbClr val="2563EB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4" name="label-任务下发 / 结果回传"/>
          <p:cNvSpPr>
            <a:spLocks noGrp="1"/>
          </p:cNvSpPr>
          <p:nvPr/>
        </p:nvSpPr>
        <p:spPr>
          <a:xfrm rot="5400000">
            <a:off x="3065145" y="6448425"/>
            <a:ext cx="171450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任务下发</a:t>
            </a:r>
            <a:r>
              <a:rPr lang="zh-CN" sz="1050" b="1"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到本地</a:t>
            </a:r>
            <a:r>
              <a:rPr lang="en-US" altLang="zh-CN" sz="1050" b="1"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 w</a:t>
            </a:r>
            <a:r>
              <a:rPr lang="en-US" altLang="zh-CN" sz="1050" b="1"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orker</a:t>
            </a:r>
            <a:endParaRPr lang="en-US" altLang="zh-CN" sz="1050" b="1">
              <a:solidFill>
                <a:srgbClr val="7030A0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V="1">
            <a:off x="5748020" y="2838450"/>
            <a:ext cx="0" cy="266700"/>
          </a:xfrm>
          <a:prstGeom prst="straightConnector1">
            <a:avLst/>
          </a:prstGeom>
          <a:ln w="23813">
            <a:solidFill>
              <a:srgbClr val="C2410C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68" name="label-Webhook POST"/>
          <p:cNvSpPr>
            <a:spLocks noGrp="1"/>
          </p:cNvSpPr>
          <p:nvPr/>
        </p:nvSpPr>
        <p:spPr>
          <a:xfrm>
            <a:off x="4427855" y="2828925"/>
            <a:ext cx="131064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r">
              <a:defRPr sz="1050" b="1">
                <a:solidFill>
                  <a:srgbClr val="C2410C"/>
                </a:solidFill>
              </a:defRPr>
            </a:pPr>
            <a:r>
              <a:rPr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Webhook POST</a:t>
            </a:r>
            <a:endParaRPr sz="1050" b="1">
              <a:solidFill>
                <a:srgbClr val="C2410C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cxnSp>
        <p:nvCxnSpPr>
          <p:cNvPr id="144" name="直接箭头连接符 143"/>
          <p:cNvCxnSpPr/>
          <p:nvPr/>
        </p:nvCxnSpPr>
        <p:spPr>
          <a:xfrm flipV="1">
            <a:off x="5459730" y="1221740"/>
            <a:ext cx="0" cy="892810"/>
          </a:xfrm>
          <a:prstGeom prst="straightConnector1">
            <a:avLst/>
          </a:prstGeom>
          <a:ln w="23813">
            <a:solidFill>
              <a:srgbClr val="7030A0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70" name="label-告警投递"/>
          <p:cNvSpPr>
            <a:spLocks noGrp="1"/>
          </p:cNvSpPr>
          <p:nvPr/>
        </p:nvSpPr>
        <p:spPr>
          <a:xfrm>
            <a:off x="5459730" y="1214120"/>
            <a:ext cx="93345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l">
              <a:defRPr sz="1050" b="1">
                <a:solidFill>
                  <a:srgbClr val="B45309"/>
                </a:solidFill>
              </a:defRPr>
            </a:pPr>
            <a:r>
              <a:rPr sz="1050" b="1">
                <a:solidFill>
                  <a:srgbClr val="B45309"/>
                </a:solidFill>
                <a:latin typeface="HarmonyOS Sans SC" panose="00000500000000000000" charset="-122"/>
                <a:ea typeface="HarmonyOS Sans SC" panose="00000500000000000000" charset="-122"/>
              </a:rPr>
              <a:t>告警投递</a:t>
            </a:r>
            <a:endParaRPr sz="1050" b="1">
              <a:solidFill>
                <a:srgbClr val="B45309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72" name="label-SSH/SFTP 到 W"/>
          <p:cNvSpPr>
            <a:spLocks noGrp="1"/>
          </p:cNvSpPr>
          <p:nvPr/>
        </p:nvSpPr>
        <p:spPr>
          <a:xfrm rot="5400000">
            <a:off x="6911975" y="3810000"/>
            <a:ext cx="226822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</p:spPr>
        <p:txBody>
          <a:bodyPr anchor="ctr" anchorCtr="0">
            <a:noAutofit/>
          </a:bodyPr>
          <a:lstStyle/>
          <a:p>
            <a:pPr lvl="0" algn="r">
              <a:buClrTx/>
              <a:buSzTx/>
              <a:buFontTx/>
              <a:defRPr sz="1050" b="1">
                <a:solidFill>
                  <a:srgbClr val="0F766E"/>
                </a:solidFill>
              </a:defRPr>
            </a:pPr>
            <a:r>
              <a:rPr lang="zh-CN"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文件上传</a:t>
            </a:r>
            <a:r>
              <a:rPr lang="en-US" altLang="zh-CN"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 / </a:t>
            </a:r>
            <a:r>
              <a:rPr lang="zh-CN"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任务下发</a:t>
            </a:r>
            <a:r>
              <a:rPr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到</a:t>
            </a:r>
            <a:r>
              <a:rPr lang="zh-CN">
                <a:solidFill>
                  <a:srgbClr val="7030A0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工作站</a:t>
            </a:r>
            <a:endParaRPr lang="zh-CN">
              <a:solidFill>
                <a:srgbClr val="7030A0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74" name="label-反向 SSH 隧道维护"/>
          <p:cNvSpPr>
            <a:spLocks noGrp="1"/>
          </p:cNvSpPr>
          <p:nvPr/>
        </p:nvSpPr>
        <p:spPr>
          <a:xfrm rot="5400000">
            <a:off x="7293610" y="6343650"/>
            <a:ext cx="150495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</p:spPr>
        <p:txBody>
          <a:bodyPr anchor="ctr" anchorCtr="0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156082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反向 SSH 隧道维护</a:t>
            </a:r>
            <a:endParaRPr sz="1050" b="1">
              <a:solidFill>
                <a:srgbClr val="156082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grpSp>
        <p:nvGrpSpPr>
          <p:cNvPr id="100" name="组合 99"/>
          <p:cNvGrpSpPr/>
          <p:nvPr/>
        </p:nvGrpSpPr>
        <p:grpSpPr>
          <a:xfrm>
            <a:off x="4523740" y="6346825"/>
            <a:ext cx="2926080" cy="892175"/>
            <a:chOff x="7124" y="9995"/>
            <a:chExt cx="4608" cy="1405"/>
          </a:xfrm>
        </p:grpSpPr>
        <p:sp>
          <p:nvSpPr>
            <p:cNvPr id="99" name="daemon-SCDOC 缓存"/>
            <p:cNvSpPr>
              <a:spLocks noGrp="1"/>
            </p:cNvSpPr>
            <p:nvPr/>
          </p:nvSpPr>
          <p:spPr>
            <a:xfrm>
              <a:off x="7124" y="9995"/>
              <a:ext cx="4609" cy="1405"/>
            </a:xfrm>
            <a:prstGeom prst="roundRect">
              <a:avLst>
                <a:gd name="adj" fmla="val 10888"/>
              </a:avLst>
            </a:prstGeom>
            <a:solidFill>
              <a:schemeClr val="bg1"/>
            </a:solidFill>
            <a:ln w="14288">
              <a:solidFill>
                <a:srgbClr val="B9B7F4"/>
              </a:solidFill>
              <a:prstDash val="soli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4">
              <a:srgbClr val="FFFFFF"/>
            </a:effectRef>
            <a:fontRef idx="major"/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 sz="1800" b="1">
                  <a:solidFill>
                    <a:srgbClr val="4F46E5"/>
                  </a:solidFill>
                </a:defRPr>
              </a:pP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  <a:cs typeface="+mn-cs"/>
                  <a:sym typeface="+mn-ea"/>
                </a:rPr>
                <a:t>流水线</a:t>
              </a:r>
              <a:r>
                <a:rPr sz="975" b="0">
                  <a:solidFill>
                    <a:srgbClr val="172033"/>
                  </a:solidFill>
                  <a:latin typeface="HarmonyOS Sans SC" panose="00000500000000000000" charset="-122"/>
                  <a:ea typeface="HarmonyOS Sans SC" panose="00000500000000000000" charset="-122"/>
                  <a:cs typeface="+mn-cs"/>
                  <a:sym typeface="+mn-ea"/>
                </a:rPr>
                <a:t>控制</a:t>
              </a:r>
              <a:endParaRPr sz="975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  <a:cs typeface="+mn-cs"/>
                <a:sym typeface="+mn-ea"/>
              </a:endParaRPr>
            </a:p>
          </p:txBody>
        </p:sp>
        <p:sp>
          <p:nvSpPr>
            <p:cNvPr id="90" name="daemon"/>
            <p:cNvSpPr>
              <a:spLocks noGrp="1"/>
            </p:cNvSpPr>
            <p:nvPr/>
          </p:nvSpPr>
          <p:spPr>
            <a:xfrm>
              <a:off x="7124" y="10442"/>
              <a:ext cx="4608" cy="958"/>
            </a:xfrm>
            <a:prstGeom prst="roundRect">
              <a:avLst>
                <a:gd name="adj" fmla="val 13139"/>
              </a:avLst>
            </a:prstGeom>
            <a:solidFill>
              <a:srgbClr val="EEF2FF"/>
            </a:solidFill>
            <a:ln w="14288">
              <a:solidFill>
                <a:srgbClr val="B9B7F4"/>
              </a:solidFill>
              <a:prstDash val="soli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4">
              <a:srgbClr val="FFFFFF"/>
            </a:effectRef>
            <a:fontRef idx="major"/>
          </p:style>
          <p:txBody>
            <a:bodyPr/>
            <a:lstStyle/>
            <a:p>
              <a:pPr algn="ctr">
                <a:defRPr sz="1800" b="1">
                  <a:solidFill>
                    <a:srgbClr val="4F46E5"/>
                  </a:solidFill>
                </a:defRPr>
              </a:pPr>
              <a:endParaRPr lang="zh-CN" sz="1800" b="1">
                <a:solidFill>
                  <a:srgbClr val="4F46E5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grpSp>
          <p:nvGrpSpPr>
            <p:cNvPr id="97" name="组合 96"/>
            <p:cNvGrpSpPr/>
            <p:nvPr/>
          </p:nvGrpSpPr>
          <p:grpSpPr>
            <a:xfrm>
              <a:off x="7237" y="10652"/>
              <a:ext cx="4382" cy="538"/>
              <a:chOff x="7237" y="10652"/>
              <a:chExt cx="4382" cy="538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237" y="10652"/>
                <a:ext cx="4383" cy="538"/>
                <a:chOff x="7237" y="10719"/>
                <a:chExt cx="4383" cy="538"/>
              </a:xfrm>
            </p:grpSpPr>
            <p:pic>
              <p:nvPicPr>
                <p:cNvPr id="71" name="图片 70" descr="物联网"/>
                <p:cNvPicPr>
                  <a:picLocks noChangeAspect="1"/>
                </p:cNvPicPr>
                <p:nvPr/>
              </p:nvPicPr>
              <p:blipFill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86" y="10719"/>
                  <a:ext cx="442" cy="442"/>
                </a:xfrm>
                <a:prstGeom prst="rect">
                  <a:avLst/>
                </a:prstGeom>
              </p:spPr>
            </p:pic>
            <p:grpSp>
              <p:nvGrpSpPr>
                <p:cNvPr id="84" name="组合 83"/>
                <p:cNvGrpSpPr/>
                <p:nvPr/>
              </p:nvGrpSpPr>
              <p:grpSpPr>
                <a:xfrm>
                  <a:off x="7237" y="10719"/>
                  <a:ext cx="542" cy="519"/>
                  <a:chOff x="7238" y="10072"/>
                  <a:chExt cx="795" cy="760"/>
                </a:xfrm>
              </p:grpSpPr>
              <p:pic>
                <p:nvPicPr>
                  <p:cNvPr id="76" name="图片 75" descr="应用程序"/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38" y="10072"/>
                    <a:ext cx="648" cy="648"/>
                  </a:xfrm>
                  <a:prstGeom prst="rect">
                    <a:avLst/>
                  </a:prstGeom>
                </p:spPr>
              </p:pic>
              <p:pic>
                <p:nvPicPr>
                  <p:cNvPr id="63" name="图片 62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691" y="10492"/>
                    <a:ext cx="342" cy="3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6" name="组合 85"/>
                <p:cNvGrpSpPr/>
                <p:nvPr/>
              </p:nvGrpSpPr>
              <p:grpSpPr>
                <a:xfrm>
                  <a:off x="8030" y="10719"/>
                  <a:ext cx="605" cy="536"/>
                  <a:chOff x="8220" y="10074"/>
                  <a:chExt cx="887" cy="786"/>
                </a:xfrm>
              </p:grpSpPr>
              <p:pic>
                <p:nvPicPr>
                  <p:cNvPr id="77" name="图片 76" descr="圆规"/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20" y="10074"/>
                    <a:ext cx="646" cy="646"/>
                  </a:xfrm>
                  <a:prstGeom prst="rect">
                    <a:avLst/>
                  </a:prstGeom>
                </p:spPr>
              </p:pic>
              <p:pic>
                <p:nvPicPr>
                  <p:cNvPr id="67" name="图片 66"/>
                  <p:cNvPicPr>
                    <a:picLocks noChangeAspect="1"/>
                  </p:cNvPicPr>
                  <p:nvPr/>
                </p:nvPicPr>
                <p:blipFill>
                  <a:blip r:embed="rId8">
                    <a:clrChange>
                      <a:clrFrom>
                        <a:srgbClr val="000000">
                          <a:alpha val="100000"/>
                        </a:srgbClr>
                      </a:clrFrom>
                      <a:clrTo>
                        <a:srgbClr val="000000">
                          <a:alpha val="100000"/>
                          <a:alpha val="0"/>
                        </a:srgbClr>
                      </a:clrTo>
                    </a:clrChange>
                  </a:blip>
                  <a:srcRect t="139" b="139"/>
                  <a:stretch>
                    <a:fillRect/>
                  </a:stretch>
                </p:blipFill>
                <p:spPr>
                  <a:xfrm>
                    <a:off x="8711" y="10464"/>
                    <a:ext cx="397" cy="39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7" name="组合 86"/>
                <p:cNvGrpSpPr/>
                <p:nvPr/>
              </p:nvGrpSpPr>
              <p:grpSpPr>
                <a:xfrm>
                  <a:off x="9579" y="10719"/>
                  <a:ext cx="512" cy="536"/>
                  <a:chOff x="10110" y="10074"/>
                  <a:chExt cx="751" cy="786"/>
                </a:xfrm>
              </p:grpSpPr>
              <p:pic>
                <p:nvPicPr>
                  <p:cNvPr id="73" name="图片 72" descr="六边形"/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10" y="10074"/>
                    <a:ext cx="646" cy="646"/>
                  </a:xfrm>
                  <a:prstGeom prst="rect">
                    <a:avLst/>
                  </a:prstGeom>
                </p:spPr>
              </p:pic>
              <p:pic>
                <p:nvPicPr>
                  <p:cNvPr id="80" name="图片 79" descr="1"/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0465" y="10464"/>
                    <a:ext cx="397" cy="39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8" name="组合 87"/>
                <p:cNvGrpSpPr/>
                <p:nvPr/>
              </p:nvGrpSpPr>
              <p:grpSpPr>
                <a:xfrm>
                  <a:off x="10342" y="10719"/>
                  <a:ext cx="501" cy="538"/>
                  <a:chOff x="10980" y="10072"/>
                  <a:chExt cx="735" cy="788"/>
                </a:xfrm>
              </p:grpSpPr>
              <p:pic>
                <p:nvPicPr>
                  <p:cNvPr id="78" name="图片 77" descr="计算"/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980" y="10072"/>
                    <a:ext cx="646" cy="646"/>
                  </a:xfrm>
                  <a:prstGeom prst="rect">
                    <a:avLst/>
                  </a:prstGeom>
                </p:spPr>
              </p:pic>
              <p:pic>
                <p:nvPicPr>
                  <p:cNvPr id="81" name="图片 80" descr="1"/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1319" y="10464"/>
                    <a:ext cx="397" cy="39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5" name="组合 84"/>
                <p:cNvGrpSpPr/>
                <p:nvPr/>
              </p:nvGrpSpPr>
              <p:grpSpPr>
                <a:xfrm>
                  <a:off x="11094" y="10719"/>
                  <a:ext cx="526" cy="537"/>
                  <a:chOff x="12192" y="10074"/>
                  <a:chExt cx="771" cy="786"/>
                </a:xfrm>
              </p:grpSpPr>
              <p:pic>
                <p:nvPicPr>
                  <p:cNvPr id="79" name="图片 78" descr="单曲线图"/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92" y="10074"/>
                    <a:ext cx="646" cy="646"/>
                  </a:xfrm>
                  <a:prstGeom prst="rect">
                    <a:avLst/>
                  </a:prstGeom>
                </p:spPr>
              </p:pic>
              <p:pic>
                <p:nvPicPr>
                  <p:cNvPr id="82" name="图片 81" descr="1"/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567" y="10464"/>
                    <a:ext cx="397" cy="397"/>
                  </a:xfrm>
                  <a:prstGeom prst="rect">
                    <a:avLst/>
                  </a:prstGeom>
                </p:spPr>
              </p:pic>
              <p:pic>
                <p:nvPicPr>
                  <p:cNvPr id="83" name="图片 82" descr="Matlab_Logo"/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2623" y="10330"/>
                    <a:ext cx="285" cy="255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92" name="图片 91" descr="10741055634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804" y="10793"/>
                <a:ext cx="208" cy="208"/>
              </a:xfrm>
              <a:prstGeom prst="rect">
                <a:avLst/>
              </a:prstGeom>
            </p:spPr>
          </p:pic>
          <p:pic>
            <p:nvPicPr>
              <p:cNvPr id="93" name="图片 92" descr="10741055634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640" y="10793"/>
                <a:ext cx="208" cy="208"/>
              </a:xfrm>
              <a:prstGeom prst="rect">
                <a:avLst/>
              </a:prstGeom>
            </p:spPr>
          </p:pic>
          <p:pic>
            <p:nvPicPr>
              <p:cNvPr id="94" name="图片 93" descr="10741055634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9371" y="10793"/>
                <a:ext cx="208" cy="208"/>
              </a:xfrm>
              <a:prstGeom prst="rect">
                <a:avLst/>
              </a:prstGeom>
            </p:spPr>
          </p:pic>
          <p:pic>
            <p:nvPicPr>
              <p:cNvPr id="95" name="图片 94" descr="10741055634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0084" y="10793"/>
                <a:ext cx="208" cy="208"/>
              </a:xfrm>
              <a:prstGeom prst="rect">
                <a:avLst/>
              </a:prstGeom>
            </p:spPr>
          </p:pic>
          <p:pic>
            <p:nvPicPr>
              <p:cNvPr id="96" name="图片 95" descr="10741055634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0844" y="10793"/>
                <a:ext cx="208" cy="208"/>
              </a:xfrm>
              <a:prstGeom prst="rect">
                <a:avLst/>
              </a:prstGeom>
            </p:spPr>
          </p:pic>
        </p:grpSp>
      </p:grpSp>
      <p:cxnSp>
        <p:nvCxnSpPr>
          <p:cNvPr id="101" name="直接箭头连接符 100"/>
          <p:cNvCxnSpPr/>
          <p:nvPr/>
        </p:nvCxnSpPr>
        <p:spPr>
          <a:xfrm>
            <a:off x="7538085" y="5090160"/>
            <a:ext cx="1010285" cy="0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20" idx="1"/>
          </p:cNvCxnSpPr>
          <p:nvPr/>
        </p:nvCxnSpPr>
        <p:spPr>
          <a:xfrm flipH="1">
            <a:off x="3412490" y="5753100"/>
            <a:ext cx="1021715" cy="0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连接符 110"/>
          <p:cNvCxnSpPr>
            <a:stCxn id="11" idx="3"/>
          </p:cNvCxnSpPr>
          <p:nvPr/>
        </p:nvCxnSpPr>
        <p:spPr>
          <a:xfrm>
            <a:off x="3409950" y="3076575"/>
            <a:ext cx="51816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922395" y="3072765"/>
            <a:ext cx="0" cy="20205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>
            <a:off x="3917315" y="5090160"/>
            <a:ext cx="516890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H="1">
            <a:off x="7539990" y="5753100"/>
            <a:ext cx="10096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flipV="1">
            <a:off x="5738495" y="3829050"/>
            <a:ext cx="0" cy="325755"/>
          </a:xfrm>
          <a:prstGeom prst="straightConnector1">
            <a:avLst/>
          </a:prstGeom>
          <a:ln w="23813">
            <a:solidFill>
              <a:srgbClr val="C2410C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8" name="chip-solidworks"/>
          <p:cNvSpPr>
            <a:spLocks noGrp="1"/>
          </p:cNvSpPr>
          <p:nvPr/>
        </p:nvSpPr>
        <p:spPr>
          <a:xfrm>
            <a:off x="2126615" y="6060440"/>
            <a:ext cx="1035685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9525">
            <a:solidFill>
              <a:srgbClr val="C6D6F7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72033"/>
                </a:solidFill>
              </a:defRPr>
            </a:pPr>
            <a:r>
              <a:rPr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SpaceClaim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cxnSp>
        <p:nvCxnSpPr>
          <p:cNvPr id="119" name="直接箭头连接符 118"/>
          <p:cNvCxnSpPr/>
          <p:nvPr/>
        </p:nvCxnSpPr>
        <p:spPr>
          <a:xfrm>
            <a:off x="1512570" y="5192395"/>
            <a:ext cx="0" cy="87058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2644775" y="5192395"/>
            <a:ext cx="0" cy="16319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>
            <a:off x="2644775" y="5893435"/>
            <a:ext cx="0" cy="16319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3412490" y="5654675"/>
            <a:ext cx="1021715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3" name="workstation-WS-A"/>
          <p:cNvSpPr>
            <a:spLocks noGrp="1"/>
          </p:cNvSpPr>
          <p:nvPr/>
        </p:nvSpPr>
        <p:spPr>
          <a:xfrm>
            <a:off x="8549005" y="6945630"/>
            <a:ext cx="5928995" cy="407035"/>
          </a:xfrm>
          <a:prstGeom prst="roundRect">
            <a:avLst>
              <a:gd name="adj" fmla="val 20124"/>
            </a:avLst>
          </a:prstGeom>
          <a:solidFill>
            <a:srgbClr val="E7F6F3"/>
          </a:solidFill>
          <a:ln w="12383">
            <a:solidFill>
              <a:srgbClr val="8BD1C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anchor="ctr" anchorCtr="0"/>
          <a:lstStyle/>
          <a:p>
            <a:pPr algn="ctr">
              <a:defRPr sz="1650" b="1">
                <a:solidFill>
                  <a:srgbClr val="0F766E"/>
                </a:solidFill>
              </a:defRPr>
            </a:pPr>
            <a:r>
              <a:rPr lang="zh-CN" sz="1650" b="1">
                <a:solidFill>
                  <a:srgbClr val="0F766E"/>
                </a:solidFill>
                <a:latin typeface="HarmonyOS Sans SC" panose="00000500000000000000" charset="-122"/>
                <a:ea typeface="HarmonyOS Sans SC" panose="00000500000000000000" charset="-122"/>
              </a:rPr>
              <a:t>最终后处理</a:t>
            </a:r>
            <a:r>
              <a:rPr lang="zh-CN" sz="1650" b="1">
                <a:solidFill>
                  <a:srgbClr val="0F766E"/>
                </a:solidFill>
                <a:latin typeface="HarmonyOS Sans SC" panose="00000500000000000000" charset="-122"/>
                <a:ea typeface="HarmonyOS Sans SC" panose="00000500000000000000" charset="-122"/>
              </a:rPr>
              <a:t>结果</a:t>
            </a:r>
            <a:endParaRPr lang="zh-CN" sz="1650" b="1">
              <a:solidFill>
                <a:srgbClr val="0F766E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cxnSp>
        <p:nvCxnSpPr>
          <p:cNvPr id="124" name="直接箭头连接符 123"/>
          <p:cNvCxnSpPr>
            <a:stCxn id="38" idx="2"/>
          </p:cNvCxnSpPr>
          <p:nvPr/>
        </p:nvCxnSpPr>
        <p:spPr>
          <a:xfrm>
            <a:off x="10753725" y="6704965"/>
            <a:ext cx="0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>
            <a:off x="9229725" y="6704965"/>
            <a:ext cx="0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>
            <a:off x="12277725" y="6704965"/>
            <a:ext cx="0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>
            <a:off x="13801725" y="6704965"/>
            <a:ext cx="0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daemon"/>
          <p:cNvSpPr>
            <a:spLocks noGrp="1"/>
          </p:cNvSpPr>
          <p:nvPr/>
        </p:nvSpPr>
        <p:spPr>
          <a:xfrm>
            <a:off x="6043930" y="2588895"/>
            <a:ext cx="1487805" cy="1240155"/>
          </a:xfrm>
          <a:prstGeom prst="roundRect">
            <a:avLst>
              <a:gd name="adj" fmla="val 7682"/>
            </a:avLst>
          </a:prstGeom>
          <a:solidFill>
            <a:srgbClr val="EEF2FF"/>
          </a:solidFill>
          <a:ln w="14288">
            <a:solidFill>
              <a:srgbClr val="B9B7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rPr lang="zh-CN" altLang="en-US" sz="1400" b="1">
                <a:solidFill>
                  <a:srgbClr val="4F46E5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无头前端</a:t>
            </a:r>
            <a:endParaRPr lang="en-US" sz="1400" b="1">
              <a:solidFill>
                <a:srgbClr val="4F46E5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800" b="1">
                <a:solidFill>
                  <a:srgbClr val="4F46E5"/>
                </a:solidFill>
              </a:defRPr>
            </a:pPr>
            <a:r>
              <a:rPr lang="en-US" sz="1400" b="1">
                <a:solidFill>
                  <a:srgbClr val="4F46E5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AutoFluid CLI</a:t>
            </a:r>
            <a:endParaRPr lang="en-US" sz="1400" b="1">
              <a:solidFill>
                <a:srgbClr val="4F46E5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3" name="frontend-body"/>
          <p:cNvSpPr>
            <a:spLocks noGrp="1"/>
          </p:cNvSpPr>
          <p:nvPr/>
        </p:nvSpPr>
        <p:spPr>
          <a:xfrm>
            <a:off x="5685790" y="2952750"/>
            <a:ext cx="2228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defRPr sz="1275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启动 / 暂停 / 检查</a:t>
            </a:r>
            <a:endParaRPr sz="120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275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状态查看 / IPC 访问</a:t>
            </a:r>
            <a:endParaRPr sz="1200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5927725" y="2266950"/>
            <a:ext cx="1229360" cy="0"/>
          </a:xfrm>
          <a:prstGeom prst="line">
            <a:avLst/>
          </a:prstGeom>
          <a:ln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7151370" y="2265045"/>
            <a:ext cx="0" cy="334010"/>
          </a:xfrm>
          <a:prstGeom prst="straightConnector1">
            <a:avLst/>
          </a:prstGeom>
          <a:ln>
            <a:solidFill>
              <a:srgbClr val="C2410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V="1">
            <a:off x="7060565" y="2355850"/>
            <a:ext cx="0" cy="232410"/>
          </a:xfrm>
          <a:prstGeom prst="line">
            <a:avLst/>
          </a:prstGeom>
          <a:ln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 flipH="1">
            <a:off x="5935980" y="2362835"/>
            <a:ext cx="1128395" cy="0"/>
          </a:xfrm>
          <a:prstGeom prst="straightConnector1">
            <a:avLst/>
          </a:prstGeom>
          <a:ln>
            <a:solidFill>
              <a:srgbClr val="C2410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 flipV="1">
            <a:off x="7060565" y="3827145"/>
            <a:ext cx="0" cy="325755"/>
          </a:xfrm>
          <a:prstGeom prst="straightConnector1">
            <a:avLst/>
          </a:prstGeom>
          <a:ln w="23813">
            <a:solidFill>
              <a:srgbClr val="C2410C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7" name="直接箭头连接符 106"/>
          <p:cNvCxnSpPr/>
          <p:nvPr/>
        </p:nvCxnSpPr>
        <p:spPr>
          <a:xfrm>
            <a:off x="7151370" y="3829050"/>
            <a:ext cx="0" cy="318135"/>
          </a:xfrm>
          <a:prstGeom prst="straightConnector1">
            <a:avLst/>
          </a:prstGeom>
          <a:ln w="23813">
            <a:solidFill>
              <a:srgbClr val="C2410C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08" name="label-Webhook POST"/>
          <p:cNvSpPr>
            <a:spLocks noGrp="1"/>
          </p:cNvSpPr>
          <p:nvPr/>
        </p:nvSpPr>
        <p:spPr>
          <a:xfrm>
            <a:off x="5753735" y="3830955"/>
            <a:ext cx="131064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r">
              <a:defRPr sz="1050" b="1">
                <a:solidFill>
                  <a:srgbClr val="C2410C"/>
                </a:solidFill>
              </a:defRPr>
            </a:pPr>
            <a:r>
              <a:rPr lang="zh-CN" altLang="en-US"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本地</a:t>
            </a:r>
            <a:r>
              <a:rPr lang="en-US" altLang="zh-CN"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 IPC </a:t>
            </a:r>
            <a:r>
              <a:rPr lang="zh-CN" altLang="en-US"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控制</a:t>
            </a:r>
            <a:endParaRPr lang="zh-CN" altLang="en-US" sz="1050" b="1">
              <a:solidFill>
                <a:srgbClr val="C2410C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09" name="label-Webhook POST"/>
          <p:cNvSpPr>
            <a:spLocks noGrp="1"/>
          </p:cNvSpPr>
          <p:nvPr/>
        </p:nvSpPr>
        <p:spPr>
          <a:xfrm>
            <a:off x="5749925" y="2313940"/>
            <a:ext cx="1310640" cy="324485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r">
              <a:defRPr sz="1050" b="1">
                <a:solidFill>
                  <a:srgbClr val="C2410C"/>
                </a:solidFill>
              </a:defRPr>
            </a:pPr>
            <a:r>
              <a:rPr lang="en-US"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AI </a:t>
            </a:r>
            <a:r>
              <a:rPr lang="zh-CN" altLang="en-US"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调用</a:t>
            </a:r>
            <a:r>
              <a:rPr lang="zh-CN" altLang="en-US"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交互</a:t>
            </a:r>
            <a:endParaRPr lang="zh-CN" altLang="en-US" sz="1050" b="1">
              <a:solidFill>
                <a:srgbClr val="C2410C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10" name="label-任务下发 / 结果回传"/>
          <p:cNvSpPr>
            <a:spLocks noGrp="1"/>
          </p:cNvSpPr>
          <p:nvPr/>
        </p:nvSpPr>
        <p:spPr>
          <a:xfrm rot="5400000">
            <a:off x="3496628" y="4996180"/>
            <a:ext cx="851535" cy="46736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r">
              <a:defRPr sz="1050" b="1">
                <a:solidFill>
                  <a:srgbClr val="2563EB"/>
                </a:solidFill>
              </a:defRPr>
            </a:pPr>
            <a:r>
              <a:rPr sz="1050" b="1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结果</a:t>
            </a:r>
            <a:endParaRPr sz="105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r">
              <a:defRPr sz="1050" b="1">
                <a:solidFill>
                  <a:srgbClr val="2563EB"/>
                </a:solidFill>
              </a:defRPr>
            </a:pPr>
            <a:r>
              <a:rPr sz="1050" b="1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上传</a:t>
            </a:r>
            <a:endParaRPr lang="zh-CN" sz="1050" b="1">
              <a:solidFill>
                <a:srgbClr val="7030A0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5048568" y="470535"/>
            <a:ext cx="1809115" cy="671830"/>
            <a:chOff x="8013" y="967"/>
            <a:chExt cx="2849" cy="1058"/>
          </a:xfrm>
        </p:grpSpPr>
        <p:sp>
          <p:nvSpPr>
            <p:cNvPr id="113" name="openclaw"/>
            <p:cNvSpPr>
              <a:spLocks noGrp="1"/>
            </p:cNvSpPr>
            <p:nvPr/>
          </p:nvSpPr>
          <p:spPr>
            <a:xfrm>
              <a:off x="8013" y="967"/>
              <a:ext cx="1322" cy="1058"/>
            </a:xfrm>
            <a:prstGeom prst="roundRect">
              <a:avLst>
                <a:gd name="adj" fmla="val 15789"/>
              </a:avLst>
            </a:prstGeom>
            <a:solidFill>
              <a:srgbClr val="FCFCFC"/>
            </a:solidFill>
            <a:ln w="12383">
              <a:solidFill>
                <a:schemeClr val="accent5">
                  <a:lumMod val="20000"/>
                  <a:lumOff val="80000"/>
                </a:schemeClr>
              </a:solidFill>
              <a:prstDash val="soli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4">
              <a:srgbClr val="FFFFFF"/>
            </a:effectRef>
            <a:fontRef idx="major"/>
          </p:style>
          <p:txBody>
            <a:bodyPr anchor="ctr" anchorCtr="0"/>
            <a:lstStyle/>
            <a:p>
              <a:pPr algn="ctr">
                <a:defRPr sz="1500" b="1">
                  <a:solidFill>
                    <a:srgbClr val="B45309"/>
                  </a:solidFill>
                </a:defRPr>
              </a:pPr>
              <a:r>
                <a:rPr lang="en-US" sz="1200" b="1">
                  <a:solidFill>
                    <a:srgbClr val="A778C8"/>
                  </a:solidFill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QQ</a:t>
              </a:r>
              <a:endParaRPr lang="en-US" sz="1200" b="1">
                <a:solidFill>
                  <a:srgbClr val="A778C8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  <a:p>
              <a:pPr algn="ctr">
                <a:defRPr sz="1500" b="1">
                  <a:solidFill>
                    <a:srgbClr val="B45309"/>
                  </a:solidFill>
                </a:defRPr>
              </a:pPr>
              <a:endParaRPr lang="en-US" sz="1200" b="1">
                <a:solidFill>
                  <a:srgbClr val="A778C8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  <a:p>
              <a:pPr algn="ctr">
                <a:defRPr sz="1500" b="1">
                  <a:solidFill>
                    <a:srgbClr val="B45309"/>
                  </a:solidFill>
                </a:defRPr>
              </a:pPr>
              <a:endParaRPr lang="en-US" sz="1200" b="1">
                <a:solidFill>
                  <a:srgbClr val="A778C8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115" name="openclaw"/>
            <p:cNvSpPr>
              <a:spLocks noGrp="1"/>
            </p:cNvSpPr>
            <p:nvPr/>
          </p:nvSpPr>
          <p:spPr>
            <a:xfrm>
              <a:off x="9514" y="967"/>
              <a:ext cx="1349" cy="1058"/>
            </a:xfrm>
            <a:prstGeom prst="roundRect">
              <a:avLst>
                <a:gd name="adj" fmla="val 15789"/>
              </a:avLst>
            </a:prstGeom>
            <a:solidFill>
              <a:srgbClr val="FCFCFC"/>
            </a:solidFill>
            <a:ln w="12383">
              <a:solidFill>
                <a:schemeClr val="accent5">
                  <a:lumMod val="20000"/>
                  <a:lumOff val="80000"/>
                </a:schemeClr>
              </a:solidFill>
              <a:prstDash val="soli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4">
              <a:srgbClr val="FFFFFF"/>
            </a:effectRef>
            <a:fontRef idx="major"/>
          </p:style>
          <p:txBody>
            <a:bodyPr anchor="ctr" anchorCtr="0"/>
            <a:lstStyle/>
            <a:p>
              <a:pPr algn="ctr">
                <a:defRPr sz="1500" b="1">
                  <a:solidFill>
                    <a:srgbClr val="B45309"/>
                  </a:solidFill>
                </a:defRPr>
              </a:pPr>
              <a:r>
                <a:rPr lang="zh-CN" altLang="en-US" sz="1200" b="1">
                  <a:solidFill>
                    <a:srgbClr val="A778C8"/>
                  </a:solidFill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微信</a:t>
              </a:r>
              <a:endParaRPr lang="en-US" sz="1200" b="1">
                <a:solidFill>
                  <a:srgbClr val="A778C8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  <a:p>
              <a:pPr algn="ctr">
                <a:defRPr sz="1500" b="1">
                  <a:solidFill>
                    <a:srgbClr val="B45309"/>
                  </a:solidFill>
                </a:defRPr>
              </a:pPr>
              <a:endParaRPr lang="en-US" sz="1200" b="1">
                <a:solidFill>
                  <a:srgbClr val="A778C8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  <a:p>
              <a:pPr algn="ctr">
                <a:defRPr sz="1500" b="1">
                  <a:solidFill>
                    <a:srgbClr val="B45309"/>
                  </a:solidFill>
                </a:defRPr>
              </a:pPr>
              <a:endParaRPr lang="en-US" sz="1200" b="1">
                <a:solidFill>
                  <a:srgbClr val="A778C8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pic>
        <p:nvPicPr>
          <p:cNvPr id="130" name="图片 129" descr="yJveOJoKqr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3635" y="686435"/>
            <a:ext cx="412750" cy="412750"/>
          </a:xfrm>
          <a:prstGeom prst="rect">
            <a:avLst/>
          </a:prstGeom>
        </p:spPr>
      </p:pic>
      <p:pic>
        <p:nvPicPr>
          <p:cNvPr id="131" name="图片 130" descr="553613aef097c96d1631252233"/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88915" y="712470"/>
            <a:ext cx="360000" cy="360000"/>
          </a:xfrm>
          <a:prstGeom prst="rect">
            <a:avLst/>
          </a:prstGeom>
        </p:spPr>
      </p:pic>
      <p:cxnSp>
        <p:nvCxnSpPr>
          <p:cNvPr id="132" name="直接箭头连接符 131"/>
          <p:cNvCxnSpPr/>
          <p:nvPr/>
        </p:nvCxnSpPr>
        <p:spPr>
          <a:xfrm>
            <a:off x="5358765" y="1224915"/>
            <a:ext cx="0" cy="885825"/>
          </a:xfrm>
          <a:prstGeom prst="straightConnector1">
            <a:avLst/>
          </a:prstGeom>
          <a:ln w="23813">
            <a:solidFill>
              <a:srgbClr val="ED98E6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3" name="label-Webhook POST"/>
          <p:cNvSpPr>
            <a:spLocks noGrp="1"/>
          </p:cNvSpPr>
          <p:nvPr/>
        </p:nvSpPr>
        <p:spPr>
          <a:xfrm>
            <a:off x="4048125" y="1214120"/>
            <a:ext cx="1310640" cy="324485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r">
              <a:defRPr sz="1050" b="1">
                <a:solidFill>
                  <a:srgbClr val="C2410C"/>
                </a:solidFill>
              </a:defRPr>
            </a:pPr>
            <a:r>
              <a:rPr lang="zh-CN" altLang="en-US"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自然语言</a:t>
            </a:r>
            <a:r>
              <a:rPr lang="zh-CN" altLang="en-US" sz="1050" b="1">
                <a:solidFill>
                  <a:srgbClr val="C2410C"/>
                </a:solidFill>
                <a:latin typeface="HarmonyOS Sans SC" panose="00000500000000000000" charset="-122"/>
                <a:ea typeface="HarmonyOS Sans SC" panose="00000500000000000000" charset="-122"/>
              </a:rPr>
              <a:t>交互</a:t>
            </a:r>
            <a:endParaRPr lang="zh-CN" altLang="en-US" sz="1050" b="1">
              <a:solidFill>
                <a:srgbClr val="C2410C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>
            <a:off x="2066925" y="3981450"/>
            <a:ext cx="0" cy="41719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label-日志广播 / 拉取"/>
          <p:cNvSpPr>
            <a:spLocks noGrp="1"/>
          </p:cNvSpPr>
          <p:nvPr/>
        </p:nvSpPr>
        <p:spPr>
          <a:xfrm>
            <a:off x="408305" y="4028440"/>
            <a:ext cx="165862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/>
          <a:p>
            <a:pPr lvl="0" algn="r">
              <a:buClrTx/>
              <a:buSzTx/>
              <a:buFontTx/>
              <a:defRPr sz="1050" b="1">
                <a:solidFill>
                  <a:srgbClr val="C2410C"/>
                </a:solidFill>
              </a:defRPr>
            </a:pPr>
            <a:r>
              <a:rPr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Worker start</a:t>
            </a:r>
            <a:r>
              <a:rPr lang="en-US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 </a:t>
            </a:r>
            <a:r>
              <a:rPr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指令拉起</a:t>
            </a:r>
            <a:endParaRPr>
              <a:solidFill>
                <a:srgbClr val="2563EB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38" name="chip-local-worker"/>
          <p:cNvSpPr>
            <a:spLocks noGrp="1"/>
          </p:cNvSpPr>
          <p:nvPr/>
        </p:nvSpPr>
        <p:spPr>
          <a:xfrm>
            <a:off x="971550" y="2918460"/>
            <a:ext cx="2190750" cy="814070"/>
          </a:xfrm>
          <a:prstGeom prst="roundRect">
            <a:avLst>
              <a:gd name="adj" fmla="val 10374"/>
            </a:avLst>
          </a:prstGeom>
          <a:solidFill>
            <a:srgbClr val="FFFFFF"/>
          </a:solidFill>
          <a:ln w="9525">
            <a:solidFill>
              <a:srgbClr val="C6D6F7"/>
            </a:solidFill>
            <a:prstDash val="solid"/>
          </a:ln>
        </p:spPr>
        <p:txBody>
          <a:bodyPr anchor="ctr" anchorCtr="0"/>
          <a:lstStyle/>
          <a:p>
            <a:pPr lvl="0" algn="ctr">
              <a:buClrTx/>
              <a:buSzTx/>
              <a:buFontTx/>
              <a:defRPr sz="1125" b="0">
                <a:solidFill>
                  <a:srgbClr val="172033"/>
                </a:solidFill>
              </a:defRPr>
            </a:pPr>
            <a:r>
              <a:rPr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启动 / 暂停 / 检查</a:t>
            </a:r>
            <a:endParaRPr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  <a:p>
            <a:pPr lvl="0" algn="ctr">
              <a:buClrTx/>
              <a:buSzTx/>
              <a:buFontTx/>
              <a:defRPr sz="1125" b="0">
                <a:solidFill>
                  <a:srgbClr val="172033"/>
                </a:solidFill>
              </a:defRPr>
            </a:pPr>
            <a:r>
              <a:rPr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状态查看 / 日志查看</a:t>
            </a:r>
            <a:endParaRPr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  <a:p>
            <a:pPr lvl="0" algn="ctr">
              <a:buClrTx/>
              <a:buSzTx/>
              <a:buFontTx/>
              <a:defRPr sz="1125" b="0">
                <a:solidFill>
                  <a:srgbClr val="172033"/>
                </a:solidFill>
              </a:defRPr>
            </a:pPr>
            <a:r>
              <a:rPr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设置编辑 / IPC 访问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39" name="chip-local-worker"/>
          <p:cNvSpPr>
            <a:spLocks noGrp="1"/>
          </p:cNvSpPr>
          <p:nvPr/>
        </p:nvSpPr>
        <p:spPr>
          <a:xfrm>
            <a:off x="995680" y="6518275"/>
            <a:ext cx="2190750" cy="711200"/>
          </a:xfrm>
          <a:prstGeom prst="roundRect">
            <a:avLst>
              <a:gd name="adj" fmla="val 12410"/>
            </a:avLst>
          </a:prstGeom>
          <a:solidFill>
            <a:srgbClr val="FFFFFF"/>
          </a:solidFill>
          <a:ln w="9525">
            <a:solidFill>
              <a:srgbClr val="C6D6F7"/>
            </a:solidFill>
            <a:prstDash val="solid"/>
          </a:ln>
        </p:spPr>
        <p:txBody>
          <a:bodyPr anchor="ctr" anchorCtr="0"/>
          <a:lstStyle/>
          <a:p>
            <a:pPr algn="ctr">
              <a:defRPr sz="1200" b="0">
                <a:solidFill>
                  <a:srgbClr val="172033"/>
                </a:solidFill>
              </a:defRPr>
            </a:pPr>
            <a:r>
              <a:rPr sz="1125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Windows-only 建模转换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200" b="0">
                <a:solidFill>
                  <a:srgbClr val="172033"/>
                </a:solidFill>
              </a:defRPr>
            </a:pPr>
            <a:r>
              <a:rPr sz="1125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注册 / 心跳 / 轮询任务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algn="ctr">
              <a:defRPr sz="1200" b="0">
                <a:solidFill>
                  <a:srgbClr val="172033"/>
                </a:solidFill>
              </a:defRPr>
            </a:pPr>
            <a:r>
              <a:rPr sz="1125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完成后上传 SCDOC</a:t>
            </a:r>
            <a:endParaRPr sz="1125" b="0">
              <a:solidFill>
                <a:srgbClr val="172033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141" name="直接连接符 140"/>
          <p:cNvCxnSpPr/>
          <p:nvPr/>
        </p:nvCxnSpPr>
        <p:spPr>
          <a:xfrm>
            <a:off x="269240" y="3076575"/>
            <a:ext cx="45466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>
            <a:off x="274955" y="3076575"/>
            <a:ext cx="0" cy="477202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266065" y="7848600"/>
            <a:ext cx="778129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>
            <a:off x="8052435" y="7093585"/>
            <a:ext cx="0" cy="75501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/>
          <p:nvPr/>
        </p:nvCxnSpPr>
        <p:spPr>
          <a:xfrm>
            <a:off x="8052435" y="7094220"/>
            <a:ext cx="196215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7" name="label-SSH 本地端口转发 /"/>
          <p:cNvSpPr>
            <a:spLocks noGrp="1"/>
          </p:cNvSpPr>
          <p:nvPr/>
        </p:nvSpPr>
        <p:spPr>
          <a:xfrm>
            <a:off x="8052435" y="7693660"/>
            <a:ext cx="1962150" cy="323850"/>
          </a:xfrm>
          <a:prstGeom prst="roundRect">
            <a:avLst>
              <a:gd name="adj" fmla="val 0"/>
            </a:avLst>
          </a:prstGeom>
          <a:noFill/>
          <a:ln w="762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lang="zh-CN" sz="1050" b="1">
                <a:solidFill>
                  <a:srgbClr val="2563EB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组件拉起</a:t>
            </a:r>
            <a:endParaRPr lang="zh-CN" sz="1050" b="1">
              <a:solidFill>
                <a:srgbClr val="2563EB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63697,50027662,50063585,50038426,21601836,21572478]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WPS 演示</Application>
  <PresentationFormat>Converted Presentation</PresentationFormat>
  <Paragraphs>193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HarmonyOS Sans SC</vt:lpstr>
      <vt:lpstr>Calibri Light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谢铠舟</cp:lastModifiedBy>
  <cp:revision>2</cp:revision>
  <dcterms:created xsi:type="dcterms:W3CDTF">2026-07-01T13:54:00Z</dcterms:created>
  <dcterms:modified xsi:type="dcterms:W3CDTF">2026-07-01T16:24:01Z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066761B446DB4664B2BACE6F8F5AF57D_12</vt:lpwstr>
  </property>
</Properties>
</file>