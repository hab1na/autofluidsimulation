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23346a615b462f" /><Relationship Type="http://schemas.openxmlformats.org/officeDocument/2006/relationships/extended-properties" Target="/docProps/app.xml" Id="Rbcfe8637e980494d" /><Relationship Type="http://schemas.openxmlformats.org/officeDocument/2006/relationships/officeDocument" Target="/ppt/presentation.xml" Id="Rebc64c819aa246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96810f11f140b5"/>
  </p:sldMasterIdLst>
  <p:notesMasterIdLst>
    <p:notesMasterId xmlns:r="http://schemas.openxmlformats.org/officeDocument/2006/relationships" r:id="Rc84b24145cd4459d"/>
  </p:notesMasterIdLst>
  <p:sldIdLst>
    <p:sldId xmlns:r="http://schemas.openxmlformats.org/officeDocument/2006/relationships" id="256" r:id="Rb8ef99cdb2d64691"/>
    <p:sldId xmlns:r="http://schemas.openxmlformats.org/officeDocument/2006/relationships" id="257" r:id="R17db29365b8d4db8"/>
    <p:sldId xmlns:r="http://schemas.openxmlformats.org/officeDocument/2006/relationships" id="258" r:id="Re8d5c83532b1479f"/>
    <p:sldId xmlns:r="http://schemas.openxmlformats.org/officeDocument/2006/relationships" id="259" r:id="R07fa01f1cf68488f"/>
    <p:sldId xmlns:r="http://schemas.openxmlformats.org/officeDocument/2006/relationships" id="260" r:id="Rde68b891610849ea"/>
    <p:sldId xmlns:r="http://schemas.openxmlformats.org/officeDocument/2006/relationships" id="261" r:id="R78bb25cc4d25417f"/>
    <p:sldId xmlns:r="http://schemas.openxmlformats.org/officeDocument/2006/relationships" id="262" r:id="R1842c7da4b694f36"/>
    <p:sldId xmlns:r="http://schemas.openxmlformats.org/officeDocument/2006/relationships" id="263" r:id="Rd58fa6f16e9548ae"/>
    <p:sldId xmlns:r="http://schemas.openxmlformats.org/officeDocument/2006/relationships" id="264" r:id="R4ea10b0e0ddb40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02f005e6be48b9" /><Relationship Type="http://schemas.openxmlformats.org/officeDocument/2006/relationships/slideMaster" Target="/ppt/slideMasters/slideMaster1.xml" Id="R8096810f11f140b5" /><Relationship Type="http://schemas.openxmlformats.org/officeDocument/2006/relationships/notesMaster" Target="/ppt/notesMasters/notesMaster1.xml" Id="Rc84b24145cd4459d" /><Relationship Type="http://schemas.openxmlformats.org/officeDocument/2006/relationships/presProps" Target="/ppt/presProps.xml" Id="Rccac816f67284bac" /><Relationship Type="http://schemas.openxmlformats.org/officeDocument/2006/relationships/tableStyles" Target="/ppt/tableStyles.xml" Id="Ra5d935ea6afb4a16" /><Relationship Type="http://schemas.openxmlformats.org/officeDocument/2006/relationships/slide" Target="/ppt/slides/slide1.xml" Id="Rb8ef99cdb2d64691" /><Relationship Type="http://schemas.openxmlformats.org/officeDocument/2006/relationships/slide" Target="/ppt/slides/slide2.xml" Id="R17db29365b8d4db8" /><Relationship Type="http://schemas.openxmlformats.org/officeDocument/2006/relationships/slide" Target="/ppt/slides/slide3.xml" Id="Re8d5c83532b1479f" /><Relationship Type="http://schemas.openxmlformats.org/officeDocument/2006/relationships/slide" Target="/ppt/slides/slide4.xml" Id="R07fa01f1cf68488f" /><Relationship Type="http://schemas.openxmlformats.org/officeDocument/2006/relationships/slide" Target="/ppt/slides/slide5.xml" Id="Rde68b891610849ea" /><Relationship Type="http://schemas.openxmlformats.org/officeDocument/2006/relationships/slide" Target="/ppt/slides/slide6.xml" Id="R78bb25cc4d25417f" /><Relationship Type="http://schemas.openxmlformats.org/officeDocument/2006/relationships/slide" Target="/ppt/slides/slide7.xml" Id="R1842c7da4b694f36" /><Relationship Type="http://schemas.openxmlformats.org/officeDocument/2006/relationships/slide" Target="/ppt/slides/slide8.xml" Id="Rd58fa6f16e9548ae" /><Relationship Type="http://schemas.openxmlformats.org/officeDocument/2006/relationships/slide" Target="/ppt/slides/slide9.xml" Id="R4ea10b0e0ddb40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41b9b9d3f948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60271da5134ca3" /><Relationship Type="http://schemas.openxmlformats.org/officeDocument/2006/relationships/notesMaster" Target="/ppt/notesMasters/notesMaster1.xml" Id="R0b3ca23cdfb94f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0a2776d8754587" /><Relationship Type="http://schemas.openxmlformats.org/officeDocument/2006/relationships/notesMaster" Target="/ppt/notesMasters/notesMaster1.xml" Id="R7580ed41cc4a47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4f0b82aa0948d7" /><Relationship Type="http://schemas.openxmlformats.org/officeDocument/2006/relationships/notesMaster" Target="/ppt/notesMasters/notesMaster1.xml" Id="R95daee298e9340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c6faa403164ecc" /><Relationship Type="http://schemas.openxmlformats.org/officeDocument/2006/relationships/notesMaster" Target="/ppt/notesMasters/notesMaster1.xml" Id="R497aacde8dad46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f63b959cca4954" /><Relationship Type="http://schemas.openxmlformats.org/officeDocument/2006/relationships/notesMaster" Target="/ppt/notesMasters/notesMaster1.xml" Id="R9ca08df6932847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b29247882d4b8d" /><Relationship Type="http://schemas.openxmlformats.org/officeDocument/2006/relationships/notesMaster" Target="/ppt/notesMasters/notesMaster1.xml" Id="R237221a976d642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a538721c8744fb" /><Relationship Type="http://schemas.openxmlformats.org/officeDocument/2006/relationships/notesMaster" Target="/ppt/notesMasters/notesMaster1.xml" Id="R16909e985b1549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8d4bc579ca4410" /><Relationship Type="http://schemas.openxmlformats.org/officeDocument/2006/relationships/notesMaster" Target="/ppt/notesMasters/notesMaster1.xml" Id="Re045c924baa740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abdedb70814d22" /><Relationship Type="http://schemas.openxmlformats.org/officeDocument/2006/relationships/notesMaster" Target="/ppt/notesMasters/notesMaster1.xml" Id="Rb0d0fba01a574f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3c359c4b524c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29ec730e504485" /><Relationship Type="http://schemas.openxmlformats.org/officeDocument/2006/relationships/slideLayout" Target="/ppt/slideLayouts/slideLayout1.xml" Id="R2e0e795448ad4e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0e795448ad4e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cac83e0ca4ceb" /><Relationship Type="http://schemas.openxmlformats.org/officeDocument/2006/relationships/notesSlide" Target="/ppt/notesSlides/notesSlide1.xml" Id="R4e459600d7ec47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6b460fe3840ee" /><Relationship Type="http://schemas.openxmlformats.org/officeDocument/2006/relationships/notesSlide" Target="/ppt/notesSlides/notesSlide2.xml" Id="Rd80cd2d5154942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317c0bfd347f1" /><Relationship Type="http://schemas.openxmlformats.org/officeDocument/2006/relationships/notesSlide" Target="/ppt/notesSlides/notesSlide3.xml" Id="R6e15873ef0ef4d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58de230a74e74" /><Relationship Type="http://schemas.openxmlformats.org/officeDocument/2006/relationships/notesSlide" Target="/ppt/notesSlides/notesSlide4.xml" Id="Re1d260a73b734e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df89c0e044608" /><Relationship Type="http://schemas.openxmlformats.org/officeDocument/2006/relationships/notesSlide" Target="/ppt/notesSlides/notesSlide5.xml" Id="R5df4439306c045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80333a66242d4" /><Relationship Type="http://schemas.openxmlformats.org/officeDocument/2006/relationships/notesSlide" Target="/ppt/notesSlides/notesSlide6.xml" Id="Rb21bebd17f1f42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f4d570beb4aa1" /><Relationship Type="http://schemas.openxmlformats.org/officeDocument/2006/relationships/notesSlide" Target="/ppt/notesSlides/notesSlide7.xml" Id="Rd65d9f1b4d2b47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4c351075448c7" /><Relationship Type="http://schemas.openxmlformats.org/officeDocument/2006/relationships/notesSlide" Target="/ppt/notesSlides/notesSlide8.xml" Id="R710dcede5f7c48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74bc9db654082" /><Relationship Type="http://schemas.openxmlformats.org/officeDocument/2006/relationships/notesSlide" Target="/ppt/notesSlides/notesSlide9.xml" Id="Re67462323c5f42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675B4B-D4C0-4F0A-832D-306413A0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7429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液氧/甲烷推进剂体系下的</a:t>
            </a:r>
          </a:p>
          <a:p xmlns:a="http://schemas.openxmlformats.org/drawingml/2006/main">
            <a:pPr algn="l">
              <a:defRPr sz="39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自生增压技术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E76EC-166D-4AE9-BE38-91B8077A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调研报告 PPT 框架稿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45DEC-ED5E-49E6-A6CE-C9C7B182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5728A-F7E5-4DEF-9F41-676972B5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953000" cy="2428875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7C999-D760-4B70-8AAA-492FE0A7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472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汇报定位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95D72-DF50-4C13-AEDC-E0EE3816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47244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面向课题组内部学术汇报，不展开基础背景动机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重点放在系统架构、耦合机理、关键难点、工程验证和研究路线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把自生增压视作发动机-贮箱-控制系统闭环，而非单独辅系统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10 分钟内讲完，单页高信息密度，公式和图示保留为后续精修入口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1C459-FBD6-41FC-B515-9694B829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38500"/>
            <a:ext cx="5143500" cy="2428875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610E6-662D-4880-9180-1E3398A1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1470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3FF5B-7151-48AA-8632-623037B8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600450"/>
            <a:ext cx="49149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液氧/甲烷自生增压不是简单的“推进剂气化回箱”，而是由发动机热源、增压支路、贮箱气液两相热质交换、飞行姿态/加速度、阀门控制律和安全边界组成的强耦合低温热流体系统。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EFA8E-AEDD-4948-84BF-899EB805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904875"/>
            <a:ext cx="28575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9CA3AF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452FF-0835-4F7D-BCA9-98887BE3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038225"/>
            <a:ext cx="25908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这里需要一张背景图：液氧/甲烷火箭发动机或火箭贮箱-发动机整体照片</a:t>
            </a:r>
          </a:p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建议后续替换为报告中或公开来源的 Starship / New Glenn / 朱雀二号图片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9EC3C-7729-4D88-AF96-9DB5F46C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1/9</a:t>
            </a:r>
          </a:p>
        </p:txBody>
      </p:sp>
    </p:spTree>
    <p:extLst>
      <p:ext uri="{BB962C8B-B14F-4D97-AF65-F5344CB8AC3E}">
        <p14:creationId xmlns:p14="http://schemas.microsoft.com/office/powerpoint/2010/main" val="6223702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A25769-C39D-4F0B-89AD-89A09C39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液氧/甲烷自生增压技术调研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808CF-9AD5-4A40-9E4B-238ED347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技术定义与系统边界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643CA-E3B1-4487-93E9-956DFBE9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内部学术汇报框架稿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FFDFE-C766-4E96-8019-5A1BA988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95DEF-103A-4126-B981-D578E47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3381375" cy="1524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D54DB-C552-4B70-996E-01F171D2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3152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定义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3F32B-9519-475B-BE74-2004912F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31527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从推进剂系统自身抽取部分液体或气体，经发动机冷却通道、换热器、预燃室/燃气管路、独立蒸发器等热源加热气化，再以同种或高度相容气体回输贮箱气枕区，维持箱压。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液氧/甲烷典型形式：GOX -&gt; LOX 箱；GCH4 -&gt; LCH4 箱。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47304-4A39-4C40-BB0D-87C22BBB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219200"/>
            <a:ext cx="3619500" cy="1524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04AC6-E7FE-4F0C-B7A3-F4E2CCD8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29540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本报告系统边界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DA649-6AF3-4198-A42B-3B088BD2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581150"/>
            <a:ext cx="3390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推进剂：LOX / LCH4</a:t>
            </a:r>
          </a:p>
          <a:p xmlns:a="http://schemas.openxmlformats.org/drawingml/2006/main">
            <a:pPr algn="l">
              <a:defRPr sz="106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热源：再生冷却、换热器、预燃室/燃气支路</a:t>
            </a:r>
          </a:p>
          <a:p xmlns:a="http://schemas.openxmlformats.org/drawingml/2006/main">
            <a:pPr algn="l">
              <a:defRPr sz="106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被控对象：箱压与发动机入口条件</a:t>
            </a:r>
          </a:p>
          <a:p xmlns:a="http://schemas.openxmlformats.org/drawingml/2006/main">
            <a:pPr algn="l">
              <a:defRPr sz="106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约束：真实物性、两相流、安全相容性、飞行环境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A66647-C776-4D62-9DC6-120E89C7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219200"/>
            <a:ext cx="3381375" cy="1524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EAC4F-1ADD-482B-B08E-A802E2D2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295400"/>
            <a:ext cx="3152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不作为重点展开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2983F5-93A5-427D-A294-2A05AEBA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581150"/>
            <a:ext cx="31527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液氧/甲烷推进剂组合的总体价值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氦气供应链或商业复用背景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非低温常规推进剂增压细节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单独发动机循环性能优化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97053-D293-4AA1-B0B4-8D0D83F2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428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44160-8813-4DC2-BFAB-17760875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贮箱液相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LOX / LCH4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7A0214-B557-4854-B074-0ABBE1F3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429000"/>
            <a:ext cx="15240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2C5B5-70A8-418B-A633-C18F9004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5052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取液/取气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泵前/泵后/支路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5B1C42-1DDC-4257-972C-2937A8B9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166687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95661-A570-4F8A-BF04-52C10C8B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05200"/>
            <a:ext cx="1514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热源加热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冷却通道/换热器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560CAE-FF64-4188-B12E-4A11BA15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17145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75C055-D167-407A-9C2B-1E87B0F6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0520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调压控温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阀门/孔板/传感器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E093CF-A5A6-4F19-8BC3-5D9247A4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29000"/>
            <a:ext cx="157162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FBA31C-E58D-4A1E-9226-7A9EC891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505200"/>
            <a:ext cx="1419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箱顶回输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扩散器/气枕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AAFD62-D5B4-4771-9A2F-BA070884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3676650"/>
            <a:ext cx="23812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A4F3B8-1796-40E4-B0C9-295BD6C4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0" y="3676650"/>
            <a:ext cx="23812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ADC133-E7D9-4EE0-932C-FF6C59DF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3676650"/>
            <a:ext cx="23812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C8F38-6376-4C8E-97C9-5DD5AD63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9125" y="3676650"/>
            <a:ext cx="23812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D7A5F3-E82E-4289-9688-286E6F45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结构图：自生增压最小功能链路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984AAE-3F71-4044-A078-99B5411E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9239250" cy="109537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9CA3AF"/>
            </a:solidFill>
            <a:prstDash val="dash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176806-348F-4A6D-ABCD-09A7BB1E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89725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这里可放报告图 2：自生增压结构示意图</a:t>
            </a:r>
          </a:p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或后续重画为正式工程原理图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9C7107-EB3D-465A-9550-01C92D61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24200"/>
            <a:ext cx="1428750" cy="2428875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DFF1FB-53A2-4443-B4F4-7317D10B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0040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讲述重点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BEE519-5847-4065-A8E2-A17A02B2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486150"/>
            <a:ext cx="120015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1. 回输介质与贮箱推进剂同源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2. 增压气生成依赖热源与流量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3. 控制目标不是单一箱压，而是箱压、入口条件和安全裕度共同满足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FC48D2-B11E-4910-A0BA-A7BEEBB7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2/9</a:t>
            </a:r>
          </a:p>
        </p:txBody>
      </p:sp>
    </p:spTree>
    <p:extLst>
      <p:ext uri="{BB962C8B-B14F-4D97-AF65-F5344CB8AC3E}">
        <p14:creationId xmlns:p14="http://schemas.microsoft.com/office/powerpoint/2010/main" val="4582308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48F1B8-0B3F-40B7-A4A7-C20232FF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液氧/甲烷自生增压技术调研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3DD1F-746A-413F-9EA5-02CB4FF3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典型系统架构：六个功能段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304F5-7C3D-482E-A283-EBBFA005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内部学术汇报框架稿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AE2F0-189D-4AF6-8D59-B77BB9E7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BC67D-E29A-4277-A77A-196916B2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85875"/>
            <a:ext cx="15240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A976A-ED2D-4A29-A0CB-6BB1A7DF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取液/取气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1E829-90B2-45D7-B2C0-14684175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1524000" cy="1381125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3976A-8DAE-435D-BD0C-5A0DE975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295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液箱/泵前/泵后/高压支路；需定义取流比例和回流拓扑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B7EB1-18DA-4FA0-9CD4-B31A279D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85875"/>
            <a:ext cx="15240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BCDC5-EDB1-4B7A-9869-A77DEE1D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362075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加热气化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87F58-A5D2-443D-96AD-D910BB02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62150"/>
            <a:ext cx="1524000" cy="1381125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54E4A-BF41-4778-BC28-65DE049A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76450"/>
            <a:ext cx="1295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再生冷却、换热器、预燃室/燃气、独立蒸发器；决定焓升与气体品质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FA2DE-EFDE-4322-AF5C-836C9144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85875"/>
            <a:ext cx="15240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BCD4C7-5F87-4BE3-A0A5-9666D9AF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362075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调节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712A5-17EF-4EED-B898-42A1C6FE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1524000" cy="1381125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3BE26-AA7D-4F6F-BB3E-E1625AEE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76450"/>
            <a:ext cx="1295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电磁阀、比例阀、孔板、止回阀；决定动态流量和压力波传播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0A4982-7134-4A1A-A42D-50ADF95D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85875"/>
            <a:ext cx="15240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57005B-7D3D-4BAE-8CE4-8956BA87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62075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回输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E4D0A0-681C-49D6-A000-59985D59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1524000" cy="1381125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B43EB0-4BEC-4A7A-AE38-7E97F703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76450"/>
            <a:ext cx="1295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箱顶扩散器/喷注器；决定气液界面扰动、冷凝和热分层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3D12F3-326C-4DFB-BD72-A65B50F8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85875"/>
            <a:ext cx="15240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652FB6-42F4-4BCC-8EF6-3576B326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362075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测控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911DD2-8AAD-47DD-B60D-05008C01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62150"/>
            <a:ext cx="1524000" cy="1381125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0DE3C4-BFA8-4BD6-B06C-504F7C87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76450"/>
            <a:ext cx="1295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压力三取二、温度阵列、流量、阀位；形成控制器状态估计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8D105A-EEA6-4E33-9B0A-F00B395C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285875"/>
            <a:ext cx="15240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0C44C8-D752-4805-ADE3-A179660B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62075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保护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813373-A6EB-4197-B1BA-A1003A80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62150"/>
            <a:ext cx="1524000" cy="1381125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CA6C76-8FFA-45B3-B8D3-DE8BC9EE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76450"/>
            <a:ext cx="1295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泄放阀、爆破片、隔离阀、吹除预冷接口；覆盖超压和反向污染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150C99-4DC1-4C08-8623-AA122E90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0" y="-9525000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94F406-3F86-48A4-991D-09A86928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448800" y="-9448800"/>
            <a:ext cx="-142875" cy="-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432952-24EF-4FCB-A8A2-6B7BF92F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0" y="-9525000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347B1B-BCDE-4020-9D25-FC18F864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448800" y="-9448800"/>
            <a:ext cx="-142875" cy="-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288F2C-EFAA-4D02-B9F4-3AEA27BE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0" y="-9525000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3A693A-97A3-4E51-9915-338B73EC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448800" y="-9448800"/>
            <a:ext cx="-142875" cy="-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DE7F6C-6950-4079-BDCC-31D5659A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0" y="-9525000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3E1905-CFCF-4C07-9984-382309BB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448800" y="-9448800"/>
            <a:ext cx="-142875" cy="-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41FF74-877A-4E0E-AB7F-720DDB4B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0" y="-9525000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FBFF60-77A6-47A4-81AC-02372FA5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448800" y="-9448800"/>
            <a:ext cx="-142875" cy="-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DCFA17-3E95-4E52-9238-352B5833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0" y="-9525000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C053E2-C2E3-4583-807D-9A8FBBDE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448800" y="-9448800"/>
            <a:ext cx="-142875" cy="-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E9C052-E861-4831-84A3-68A9CE9D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5240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8F6E80-47F8-40FC-B5D0-49DA6598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240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2A7814-E9A0-4C53-98EA-B974800E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5240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4C6175-D425-4EE4-B69B-B487FBB9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240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03BF67-40F2-4E3E-BD00-D0DE8065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5240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66106C-A63E-4487-81C2-A8CBAE24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5191125" cy="200025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109FDB-4AAE-4B3E-BD86-59B77CDB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496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氧箱自生增压路径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03F542-962A-4A25-9784-43EFE89B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496252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低温液氧经换热器气化为 GOX，或从高压氧路/富氧预燃室相关支路取气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重点风险：富氧高温材料相容性、摩擦/颗粒点火、污染控制、热冲击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控制重点：避免两相流进入增压管路；避免 GOX 过热造成箱顶热力冲击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常见硬件：节流孔板、控制阀、止回阀、箱顶扩散器、安全泄放阀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BE4D27-4707-4F8C-AD2D-503C0930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67125"/>
            <a:ext cx="5191125" cy="200025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C0D1F4-8DD9-45CB-922F-7971D797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43325"/>
            <a:ext cx="496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甲烷箱自生增压路径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15BCDF8-66E7-4950-8020-6058618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029075"/>
            <a:ext cx="496252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液甲烷作为燃料和冷却剂进入再生冷却通道，吸热后成为高温/超临界甲烷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少量支路经调节阀回输甲烷箱气枕；或独立换热器产生 GCH4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重点风险：主流量/混合比扰动、冷却裕度下降、真实气体与近临界物性误差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KARI EUCASS 2023 给出甲烷经再生冷却、氧经换热器产 GOX 的试验架构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113853-3624-4F94-AD98-9049B1ED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3/9</a:t>
            </a:r>
          </a:p>
        </p:txBody>
      </p:sp>
    </p:spTree>
    <p:extLst>
      <p:ext uri="{BB962C8B-B14F-4D97-AF65-F5344CB8AC3E}">
        <p14:creationId xmlns:p14="http://schemas.microsoft.com/office/powerpoint/2010/main" val="6911903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28EE60-8FCA-48C3-9875-9C2D99B6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液氧/甲烷自生增压技术调研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BEDB3-D6FE-4C93-B4F7-61DB857D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与发动机循环的耦合机制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FB85D-EFAD-4DD5-925B-4CFE33F7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内部学术汇报框架稿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D7873-59F2-4858-8E09-CF94754F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81D88-52D7-4C6A-81E3-76A5CE74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19250"/>
            <a:ext cx="171450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BBDD3-0431-46FE-AE53-274C1485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69545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增压支路阀门开度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Δu_v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1D2F8-6841-44B3-B042-84DFB6FF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19250"/>
            <a:ext cx="171450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49D2C-71B6-4070-A67E-59502227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69545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支路质量流量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ṁ_press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B8363-7DFA-4F29-A328-C9CDF026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19250"/>
            <a:ext cx="1809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5F123-4655-44A2-ACCF-FB718207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6954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主流量 / 混合比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ṁ_main, O/F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ACC00-E37D-411E-9D9B-B56CD5D0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171450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E3270-63F2-4A55-8C0D-FA2AA921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9545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燃烧室压力 / 推力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p_c, 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63077-837D-4DF6-AC14-7B857677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05125"/>
            <a:ext cx="1952625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04DC4-D766-4482-B109-4C9C2412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81325"/>
            <a:ext cx="1800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推进剂消耗 / 液位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V_ullage(t)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A7E92-527E-49BC-959F-23D5C3DE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05125"/>
            <a:ext cx="190500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6350B-00E3-4A78-AC33-9C3B4709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8132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气枕压力需求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p_tank, NPSH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76EFC9-D65C-4829-B518-11E5B2F3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5125" y="1847850"/>
            <a:ext cx="4191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23D577-1F4A-43F0-ADEE-C5C104BE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6375" y="1847850"/>
            <a:ext cx="4191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7C9563-F6EF-46DA-8E97-82CFCAB9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2875" y="1847850"/>
            <a:ext cx="4191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0A74D9-4CFF-4E7A-96DB-5CE38AFF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124950" y="2324100"/>
            <a:ext cx="1714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CE58EC-7BCD-4E9C-A084-5C3C81D8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477000" y="3133725"/>
            <a:ext cx="457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9F1360-27C7-400B-AB64-90D9E7B3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714625" y="3200400"/>
            <a:ext cx="15716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3E1128-F5EF-48E2-98C7-BD734F9F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051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反馈修正阀门指令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B925B6-27E0-40ED-9E36-46325358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闭环反馈：增压支路既是贮箱压力执行机构，也是发动机循环扰动源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C97AF4-142D-4862-BB45-22AF90ED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3429000" cy="1762125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2D3685-5E39-49EB-AF04-26071DE1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影响路径 1：流量与混合比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AEC7F8-07B9-4963-9E8E-57D59987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32004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若回输贮箱的燃料/氧化剂支路流量不可忽略，进入燃烧室或预燃室的等效主流量改变，进而影响混合比、燃烧温度、比冲和燃烧稳定边界。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76A59D-35C2-4A52-883F-C5D05D22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3429000" cy="1762125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B809D3-5A7A-427C-962E-C3212FDB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7670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影响路径 2：泵入口与冷却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E296EB-2AAC-4F65-B3AC-C2641B28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62450"/>
            <a:ext cx="32004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箱压必须保证泵入口净正吸入压头。若甲烷从冷却通道下游抽取，可能改变燃料冷却裕度和壁温；若从入口前抽取并另设换热器，则增加压降和设备质量。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3735E3-3DD6-4104-A762-3A4C5BED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429000" cy="1762125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CE1ADB-0264-49EF-8C41-E2F9F980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7670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影响路径 3：热源强度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58C421-9B52-4731-8567-75D79B84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62450"/>
            <a:ext cx="32004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深节流/着陆段热流下降，但低液位、大气枕、晃动强，入口压力需求仍存在；形成“需要增压”与“可用热源”之间的反向矛盾。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E44AC2-6053-4FE1-B187-59005207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19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可保留公式：ṁ_f,eff = ṁ_f,total - ṁ_press,CH4；O/F = ṁ_ox / ṁ_f,eff；Qdot = ṁ_press · (h_out - h_in)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EBF1EA-E8B5-466B-8F64-B1637A73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4/9</a:t>
            </a:r>
          </a:p>
        </p:txBody>
      </p:sp>
    </p:spTree>
    <p:extLst>
      <p:ext uri="{BB962C8B-B14F-4D97-AF65-F5344CB8AC3E}">
        <p14:creationId xmlns:p14="http://schemas.microsoft.com/office/powerpoint/2010/main" val="12504074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A4395C-FF34-41BE-BCFF-8ABB0961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液氧/甲烷自生增压技术调研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88146-1423-4076-B6FF-4F423676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贮箱气枕热力学与两相问题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8EF7A-817A-41FB-836F-B548D787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内部学术汇报框架稿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D744F-FA13-497E-BC2E-B14D5789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B59C6-D112-4A58-AE42-EC445CB2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38250"/>
            <a:ext cx="3333750" cy="16192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142CA-D84F-41E0-93BB-C28ECB47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1445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压力状态变量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13EB8-001C-49F0-8977-E552914E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00200"/>
            <a:ext cx="31051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气枕压力不是单独由增压气质量决定，而由气相质量、气相温度、气枕体积和真实气体压缩因子共同决定。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公式占位：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 V_u = m_g Z R T_g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78468-56A6-4BB8-84C7-67F3BED2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3333750" cy="1524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FB94F-2D35-404F-B1F0-AFC22EDF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气液相变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CE691-675E-47CD-9AE9-CC829432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09950"/>
            <a:ext cx="31051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过热增压气喷入后可能增强液面蒸发；冷气或未完全气化的两相流进入时可能被冷凝，造成压力响应滞后。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公式占位：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ṁ_evap ≈ (q_gi + q_li) / h_fg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6936B-8B05-4518-8ABC-23549ABB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0"/>
            <a:ext cx="3333750" cy="109537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0B86C-9B62-4B1B-B370-102428EA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3870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真实气体物性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FD5BE-F22C-4959-A0C7-9755D230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24450"/>
            <a:ext cx="31051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低温氧/甲烷在饱和区、近临界区、高压气枕中不宜长期采用理想气体近似；建议使用 REFPROP / NIST / CoolProp。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D7916-F796-42AE-97D6-92346764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33500"/>
            <a:ext cx="3381375" cy="347662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293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39749-01BA-4319-83DA-A7C2ADFD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76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贮箱气枕示意结构图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B8E44-1E24-4E8A-9465-E2BF1FB6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00250"/>
            <a:ext cx="190500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D804D8-B854-4B53-9240-80A23745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52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气枕区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Tg(z), mg, 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180102-442F-4669-8BB8-E4D35362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762250"/>
            <a:ext cx="1905000" cy="1238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61164F-BFBB-4348-91DD-CED442C7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432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液相区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Tl, rho_l, V_l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01E594-5DCD-4156-8C9C-662E0627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8763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42DA5-93D4-4065-BDD7-3A407135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28825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增压气喷注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ṁ_in, h_in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EE2056-5EAC-437C-9041-FECFDEBB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05100"/>
            <a:ext cx="8763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F0FE21-828F-4C43-962D-AB7ADDC9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813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界面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蒸发/冷凝</a:t>
            </a:r>
          </a:p>
        </p:txBody>
      </p:sp>
      <p:cxnSp>
        <p:nvCxnSpPr>
          <p:cNvPr id="58" name=""/>
          <p:cNvCxnSpPr>
            <a:stCxn xmlns:a="http://schemas.openxmlformats.org/drawingml/2006/main" id="20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5400675" y="2228850"/>
            <a:ext cx="1362075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2937"/>
            </a:solidFill>
            <a:prstDash val="solid"/>
            <a:headEnd type="arrow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39F30D-7B28-4EA9-8EA0-D03D4637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48250"/>
            <a:ext cx="3762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关键现象：热分层、界面相变、气体冷凝、晃动导致有效传热面积变化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7E2815-9B45-4322-8127-2F26C299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38250"/>
            <a:ext cx="314325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742F23-B2EE-4EA5-B477-7FA5D79E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3144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地面试验外推问题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A3AACF-287E-4CA6-B97F-2C566348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00200"/>
            <a:ext cx="2914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1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1g 竖直贮箱：气枕/液面位置稳定</a:t>
            </a:r>
          </a:p>
          <a:p xmlns:a="http://schemas.openxmlformats.org/drawingml/2006/main">
            <a:pPr algn="l">
              <a:defRPr sz="111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飞行：轴向/横向加速度、姿态变化、低重力滑行、液位下降</a:t>
            </a:r>
          </a:p>
          <a:p xmlns:a="http://schemas.openxmlformats.org/drawingml/2006/main">
            <a:pPr algn="l">
              <a:defRPr sz="111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缩比试验难以同时满足自由界面、相变、热惯性和真实气体相似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5A0C95-D1B1-4CCF-8B1D-719B80BC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76550"/>
            <a:ext cx="314325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634374-9B20-4E22-84EA-5FD28C61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527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建模层级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6DA0E9-E7E5-4C5E-BF1D-55EBCAB5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238500"/>
            <a:ext cx="2914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1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1. 单气枕/单液相模型：早期参数扫描</a:t>
            </a:r>
          </a:p>
          <a:p xmlns:a="http://schemas.openxmlformats.org/drawingml/2006/main">
            <a:pPr algn="l">
              <a:defRPr sz="111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2. 多节点气枕模型：描述热分层与局部冷凝</a:t>
            </a:r>
          </a:p>
          <a:p xmlns:a="http://schemas.openxmlformats.org/drawingml/2006/main">
            <a:pPr algn="l">
              <a:defRPr sz="111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3. 多相 CFD：喷注、晃动、界面形态</a:t>
            </a:r>
          </a:p>
          <a:p xmlns:a="http://schemas.openxmlformats.org/drawingml/2006/main">
            <a:pPr algn="l">
              <a:defRPr sz="111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4. 飞行遥测校准：闭环修正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786881-0858-4C3C-A747-5028B044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24375"/>
            <a:ext cx="3143250" cy="109537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9CA3AF"/>
            </a:solidFill>
            <a:prstDash val="dash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3865A7-40A6-4C5E-8BAF-C23FF38C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657725"/>
            <a:ext cx="28765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这里需要一张图：低温贮箱气枕热分层/温度阵列示意</a:t>
            </a:r>
          </a:p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可从 NASA 低温贮箱论文或报告图重画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A88358-A06A-4FAD-B7AF-027AAF0B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5/9</a:t>
            </a:r>
          </a:p>
        </p:txBody>
      </p:sp>
    </p:spTree>
    <p:extLst>
      <p:ext uri="{BB962C8B-B14F-4D97-AF65-F5344CB8AC3E}">
        <p14:creationId xmlns:p14="http://schemas.microsoft.com/office/powerpoint/2010/main" val="4127958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E4CB0E-979E-4EAE-B7C9-150FDF74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液氧/甲烷自生增压技术调研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98EBC-18B2-4CB9-AE44-F6EDD685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关键工况：启动、关机、节流、重复启动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013EB-D440-4F0E-9839-E28521DF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内部学术汇报框架稿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EA732-BE2C-4A75-AFBB-45DFB14B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3FBFC-BD2E-4C24-B71C-EDFEE413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1190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7C127-BA27-4DC5-B1CE-A9E851C2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1076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8C9B9-89C1-4AB8-85CA-4E990599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2382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C2C28-6B36-40EF-A41C-0C8C8F93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285875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主要矛盾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B529A-EA20-4724-8AE6-9FD9D5EE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2382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9ED7C-EB4A-482C-A768-EF2924D9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285875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可能后果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E225C-57D8-4627-83F9-469F44E3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2382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0B1EB-F04E-41B2-8AF3-68A85A71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285875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工程处理思路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F9B07-A4F1-402E-95A5-AE7F9B22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1190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EDA83-3DCA-4C26-A211-35269B9E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076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启动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D4B357-6F16-4BA6-A28D-4C1440C5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9240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DF85F5-A6F1-43D6-A13D-95330CAA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971675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贮箱压力先于发动机热源建立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00BD2-EC6A-44DF-AD2E-37DB7658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9240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D183AD-ECBF-42E8-B103-C8B57853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971675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箱压下陷、泵汽蚀、点火失败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0C8B4F-99D0-474E-939D-CA0A3C67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240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5ACDF-7EEB-4CE1-BE83-36527E88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971675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地面预增压；少量高压气瓶；电加热蒸发器；启动前储备气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8328D8-A450-4994-9886-1F3E9369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09850"/>
            <a:ext cx="1190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40E4E0-4820-443C-B7B2-CA9B78A5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57475"/>
            <a:ext cx="1076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关机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AA2966-2A8E-439D-9CDE-E0E6F914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098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A479A0-340F-4DBB-A610-19A13C57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57475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阀门关闭后流量下降，冷却通道/换热器余热继续气化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C6CD85-167D-4087-BF07-2501B22F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098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8A2580-AC77-41DC-BAA6-FF18A20D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657475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箱压滞后上冲；泄放；低加速度下冷凝速率变化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3988E1-775C-4E09-A211-6FD8D374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098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D87692-B16B-47F6-88CE-65D447ED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657475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关机序列联动；余热排放/隔离；泄放阈值与遥测校核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9AFD5B-C049-4DAD-AD81-448E43FD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1190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80E76C-1B90-40B3-8FAE-9F2EEBB3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43275"/>
            <a:ext cx="1076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深节流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75E6AF-F22F-4B00-801E-058C21E3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956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FF2C0B-3FF1-43CF-B7BB-67BBA820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343275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热流和泵压升下降，但入口压力和箱压裕度仍需保证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AC4E19-9C14-4E15-B1D9-C92FB2A1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956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F5701F-A5A6-40B7-8EE1-4C5BCFF5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343275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增压不足、压力振荡、推力波动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4B1056-F168-425C-845C-92C5D472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956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E7D170-7F02-4B7A-8993-CE440210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343275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限制阀门开度变化率；前馈+反馈控制；深节流专项试验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0BD52A-9BBD-4839-B07E-8843D04E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81450"/>
            <a:ext cx="1190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47FDD8-72FC-43CA-8A70-C4A4E270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29075"/>
            <a:ext cx="1076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重复启动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EA7C7A-D176-4172-AB7F-2E0819EA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814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8B8098-47BE-49FB-9ADD-92A5FD4B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029075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管路残余冷凝液、气体、两相混合物重新分布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F42D8D-23EB-4FC1-BEA8-1A7C8911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814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7C3BDE-957B-46B7-95B5-8749E2E9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029075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压力波、水击/气锤、瞬态流量偏差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00DFB9-4DCD-483D-87A4-A112BCDA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9814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490214-301F-438E-82A9-730F2DE1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029075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预冷/吹除策略；两相状态判据；启动前健康检查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0800F1-9A3C-46D8-9421-B04A65DB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99536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D0DEFE-2DB2-49D3-9160-85E7EE3A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3429000" cy="100012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579FC3-9739-41FE-B374-A06F4BB7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控制目标应扩展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78DBAD-A287-4937-8E1E-164E5243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320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不只维持 p_tank，而是同时约束：p_min / p_max、dp/dt、泵入口 NPSH、阀门频繁动作、泄放状态、发动机主循环扰动。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0CC7CF-94B1-4B70-8926-325C51F4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3429000" cy="100012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9EF087-0BB1-404D-A057-27CAF23C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2920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建议保留仿真工况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BD4386-DE3B-4C63-A208-0A30D9E1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14950"/>
            <a:ext cx="320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启动初段、稳态主工作段、50%-30% 深节流、关机余热段、二次启动前管路状态、异常泄放/阀卡滞。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06493DE-3455-4767-B665-71843B7D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429000" cy="100012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AE7FB22-47DB-4077-BC52-F81A4320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2920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可放入备份页的公式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A3553F-F360-4726-9246-930221B3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14950"/>
            <a:ext cx="320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孔板：ṁ = Cd A sqrt(2 rho Δp)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临界流：ṁ = Cd A p0 / sqrt(T0) · f(gamma, R)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阀门：tau_v dxv/dt + xv = u_v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E3E1CE-33FA-4560-BB0C-C193B57B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6/9</a:t>
            </a:r>
          </a:p>
        </p:txBody>
      </p:sp>
    </p:spTree>
    <p:extLst>
      <p:ext uri="{BB962C8B-B14F-4D97-AF65-F5344CB8AC3E}">
        <p14:creationId xmlns:p14="http://schemas.microsoft.com/office/powerpoint/2010/main" val="3294099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3130D9-DE40-4CDD-8795-0E56E807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液氧/甲烷自生增压技术调研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0CAAB-49A1-4E01-9304-7BF00A07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稳定性与安全边界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93896-78FD-4827-8105-D4984EA5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内部学术汇报框架稿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78704-B9A9-43F9-96DB-E87E224C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FD1C4-AC07-4F77-A524-00B3B1FD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3190875" cy="1762125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AB923-0975-450C-A81A-ACB97F87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14450"/>
            <a:ext cx="2962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压力振荡 / POGO 耦合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A368C-4CF1-4DB9-8356-C74FE86F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29622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贮箱气枕为可压缩容腔，管路和液柱具有惯性，阀门和控制器具有延迟，相变可能提供非线性阻尼或负阻尼。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应做：状态空间线性化、特征值、Bode/Nyquist、增益/相位裕度、时域仿真、HIL。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92AA3-27CB-4C38-BAB8-492EA709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352550"/>
            <a:ext cx="1095375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1FC21-9AE6-463D-A018-D62BF993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428750"/>
            <a:ext cx="942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支路流量↑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88C11-24D0-447D-AB17-A532CEB3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52550"/>
            <a:ext cx="1095375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EC2F5-A20F-4FF0-AEE1-2A6CD991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428750"/>
            <a:ext cx="942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主流量↓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5EDEE-9098-44F9-B710-15025AAE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352550"/>
            <a:ext cx="1095375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74BF3-4640-4AF2-8F3E-AEA15B0D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428750"/>
            <a:ext cx="942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pc/F↓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E41D5-14EC-492D-B5D7-24972BA2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66950"/>
            <a:ext cx="1095375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00F142-0B13-4E53-9029-B544F92E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343150"/>
            <a:ext cx="942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消耗率↓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3B561-DE85-4EC4-9911-F2612F40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1095375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83635-47D3-4DEB-8945-4F7E3C83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43150"/>
            <a:ext cx="942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气枕增长率↓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4B84F6-EA55-4781-8935-F31746F4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66950"/>
            <a:ext cx="1095375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B249C7-92E6-4A81-BC9C-6214EFD3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43150"/>
            <a:ext cx="942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增压需求↓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AFECA0-B4D2-40DA-BE58-F0093D58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1524000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CA3641-59CC-4C3C-AA69-2F58B5CA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1524000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F2AAED-71F8-4645-9625-43244C47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72400" y="1847850"/>
            <a:ext cx="1333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61F75A-A41B-4BCA-A4C4-AE67267E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953250" y="2476500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B4A052-0B0C-46EA-98B6-33B6E963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476875" y="2476500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1E9F3A-3D72-4024-87B1-86CE3C53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810125" y="1847850"/>
            <a:ext cx="1333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F52379-E396-434E-9675-54B97D0E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066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低频闭环反馈链路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862A17-5E03-46DE-90EB-12D47ABB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337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EB7665-2813-498B-9A14-E0028C53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131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2B64F5-A915-4868-A29F-FED55B6F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3375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4300A6-D25B-4D7A-84BF-12911151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381375"/>
            <a:ext cx="2600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触发条件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876FEC-50E3-4E02-A1E5-1731CD70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337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8F556D-7596-49AE-A1EB-5F5F444E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3813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7C7B26-FD81-4563-843B-AFFC0C79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33750"/>
            <a:ext cx="3190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B70D62-7089-4FB1-8D5C-B6C6704D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81375"/>
            <a:ext cx="3076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设计/验证边界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D475C1-981E-437B-A993-B7D9C36B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62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F1C9FB-DA0D-4373-A3E0-5D6BE2DF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33825"/>
            <a:ext cx="131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氧侧安全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4E0B47-6CC6-4489-B663-A340DAD9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8620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95C4E9-BF4A-4F6E-98DD-4D372B02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33825"/>
            <a:ext cx="2600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高温 GOX、颗粒撞击、摩擦、绝热压缩、污染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AC5611-F4AB-4563-B3D6-F0DA69AE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86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D6EA1C-05F1-4515-A285-3385A579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93382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阀门/密封点火，材料燃烧，倒灌混合风险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544947-CAFF-423C-A89C-A6CF4443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86200"/>
            <a:ext cx="3190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8BE9A8-5D71-4AC4-925F-6D07A3FF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933825"/>
            <a:ext cx="3076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氧兼容材料；严格清洗；低冲击阀门；冗余隔离；NASA/ASTM 氧系统标准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7F46AD-DADE-47FD-BB9F-B3F80A3B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2D34F0-CDFF-465B-8352-F9E2A9AE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86275"/>
            <a:ext cx="131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甲烷侧物性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5CD667-284F-4080-B94B-A6618515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3865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018552-21DB-4D8D-BE50-5123918E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86275"/>
            <a:ext cx="2600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近临界/超临界；高温壁面；长停留时间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D1822A-AA8E-4C98-A775-C3C3C2C0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386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795959-D287-4225-BFCC-18175BDC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4862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焓升预测偏差，换热系数非线性，沉积/堵塞风险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E43470-EBEE-4A1E-864E-5639F9E5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38650"/>
            <a:ext cx="3190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4713D3-A3E4-4F9F-8326-B361C8B0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486275"/>
            <a:ext cx="3076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REFPROP/CoolProp；单通道换热试验；出口品质和可用压力测量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8C983A-4938-4CDC-8CF5-9A0D2327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911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127B14F-31A6-4F01-99A1-0195C434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38725"/>
            <a:ext cx="131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控制稳定性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F20AC6-ED2C-432E-A077-29344DDE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9110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6F34C4E-993B-4B40-8364-A2D90B48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38725"/>
            <a:ext cx="2600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阀门延迟、热源滞后、气枕大、液位低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EEDBC2E-94E1-49B1-8DD5-5F130B3C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911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775ABFD-2DC4-48DD-BAE1-80AAFA2E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03872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箱压振荡、主流量波动、推力耦合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D8EDFE7-8EF0-4AD5-9AEF-D308532F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991100"/>
            <a:ext cx="3190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384878B-3A49-41E3-9A58-08A5CF66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038725"/>
            <a:ext cx="3076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限制阀速；避开固有频率；HIL；蒙特卡洛参数扰动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E25089D-E6B4-4067-B042-51CC4266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33750"/>
            <a:ext cx="101917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92A03CC-6764-4139-9E54-290D088A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985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状态空间占位：x_dot = f(x, u, theta, t)，线性化后 Δx_dot = AΔx + BΔu；A 的特征值用于判断小扰动稳定性。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05670C6-2247-48A7-8ACE-84456E85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7/9</a:t>
            </a:r>
          </a:p>
        </p:txBody>
      </p:sp>
    </p:spTree>
    <p:extLst>
      <p:ext uri="{BB962C8B-B14F-4D97-AF65-F5344CB8AC3E}">
        <p14:creationId xmlns:p14="http://schemas.microsoft.com/office/powerpoint/2010/main" val="5411930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44638F-2639-4EAE-BBDD-2DB5D77A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液氧/甲烷自生增压技术调研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16BBA-3221-4E48-B3EE-0CCDEA43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国内外应用与工程验证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612CD-DA52-40EB-A3AD-0262363D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内部学术汇报框架稿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A0A4C-404A-4624-9F18-DC766EF4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4F370-30D4-4C0A-A56C-5678D7A2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90625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A44B3-CBE4-44E3-8BA2-6B90A438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主体/型号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1E186-3E65-4995-B1FB-73E6CEEB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190625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FEAD4-73FE-43BB-993D-915BC013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238250"/>
            <a:ext cx="131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发动机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7F3B4-2363-44BA-BEA0-E5B7E8DC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190625"/>
            <a:ext cx="128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F661E-1B21-420F-A41F-96DEED3C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238250"/>
            <a:ext cx="1171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推进剂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AB251F-37FF-4187-B75A-12FCA082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19062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C3DF4-D89D-434F-9077-2C1687BA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238250"/>
            <a:ext cx="2266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CDEE6-C7F6-4F80-968A-A76CB5D1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190625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44EF7-83E0-461D-BD49-E4087F92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23825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对本课题的参考价值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D3FED-98A2-4409-9825-B6021FDD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43075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9EAFC0-1BAE-4915-B4E7-990D60BE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SpaceX Starship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EC3423-5D75-4514-BABE-68D77A76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743075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D92A86-8E96-471C-A156-2E9E8A46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790700"/>
            <a:ext cx="131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Raptor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F0BA42-56CF-456C-8A24-F3C8F7CC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43075"/>
            <a:ext cx="128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939E41-58FA-4D51-98EC-8E04911D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790700"/>
            <a:ext cx="1171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LOX/CH4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5F10E9-40EA-46CF-B288-FC524D10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4307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4B750-5EC4-4151-B409-A078B316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90700"/>
            <a:ext cx="2266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公开材料提及自生增压；具体管路和控制策略未公开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92A014-47F1-4928-931D-28641D4D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43075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C224ED-4390-4A63-B492-9E3E8091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9070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大型甲烷火箭全箭闭合设计代表；适合关注复用、深节流和飞行遥测闭环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63116B-D6BD-4544-BF80-6EFC7DDE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5525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A28643-963B-4315-A9A4-0B4502E9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Blue Origin New Glenn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A730F5-7354-4E31-920B-C862E19E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295525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3ABF4C-3DDE-4C7A-BA0C-A2365B73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343150"/>
            <a:ext cx="131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BE-4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CCBEEA-6E4E-4C1D-90C2-66E5C729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95525"/>
            <a:ext cx="128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D19328-5556-4847-BA7C-BC921236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43150"/>
            <a:ext cx="1171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LOX/CH4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EA0D91-3F89-4770-8DAB-A75FBF71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9552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4A2693-AABB-42E3-9DF4-E29427F8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43150"/>
            <a:ext cx="2266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官方热试新闻称一级演示自生增压系统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1CC76E-8FF2-4685-94CE-B68E5A36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95525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36B761-0EFE-4CE4-9707-61A764B3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4315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富氧补燃循环下氧/甲烷侧气源选择、安全边界值得对比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A425C6-047F-4611-A2AB-4A8CD0DA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47975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5AC701-A9AE-48EE-9B0B-91327C58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NASA RS-25/航天飞机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325777-BCDD-4E6F-A035-CFA93418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847975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4DF4D0-4307-4FF2-8B79-5F969300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895600"/>
            <a:ext cx="131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RS-25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602CDF-9973-4AD7-8C27-8A81CECB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47975"/>
            <a:ext cx="128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DE347F-6A8D-4B9C-8BC1-F543AC71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895600"/>
            <a:ext cx="1171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LOX/LH2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40C611-E146-48B7-8199-6C8B35E9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4797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753955-1A1B-4CC2-87D5-CDEC3370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95600"/>
            <a:ext cx="2266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发动机提供气体参与外贮箱压力管理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1AD43F-1216-42EC-AACA-61133019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47975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36804E-7272-412B-BD37-F2CBA1B2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9560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可借鉴发动机-贮箱接口验证方法，但氢/甲烷物性不可简单类比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3A7FD9-08A8-4FBD-8C6F-6057FB8D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00425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AC9B50-5A93-465D-A263-70917421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蓝箭朱雀二号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FEF807-FA96-4C4B-8420-22BBF8DA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00425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5143CD-110E-440A-A031-7D8C228F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448050"/>
            <a:ext cx="131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TQ-12A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5EDB17-C94A-40F7-A3D7-8CC55169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00425"/>
            <a:ext cx="128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2D6B531-94C4-4D7F-A98A-9F26B076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448050"/>
            <a:ext cx="1171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LOX/CH4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E6BB4E-D07C-4121-9880-365C1D38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0042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08C281D-0F66-456B-95D2-1311AC09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48050"/>
            <a:ext cx="2266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公开称甲烷自生增压经动力系统试车/飞行验证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D582AF-4FD3-4339-BCD7-375D662A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00425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D254F8F-EDB3-47C2-A7AA-9A5E7946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4805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国内最直接案例；三压力传感器三取二、常通路+调节路+备份路控制值得重点复盘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C7C6AE2-4923-4C02-B98F-61292E5C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52875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4315026-DC87-4A3F-AD15-AE481C75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星际荣耀双曲线二号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6FF79C-744C-44C1-9BEA-F72C0B8A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952875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B70D924-D8F4-4F55-8166-AA7DBD5C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000500"/>
            <a:ext cx="131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JD-1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CCC38C-EEF6-4F7A-847E-BC7516B3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952875"/>
            <a:ext cx="128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BDD949C-354A-45EB-8D5D-D3754172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00500"/>
            <a:ext cx="1171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LOX/CH4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662D53A-E407-46A3-BA48-BAB5F8FD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5287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192FD3D-27D1-48ED-A173-6E7B283D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00500"/>
            <a:ext cx="2266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焦点一号联试报道；专利提出甲烷自生+氧侧冷氦混合方案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AB36477-7BC1-4BED-BE26-69E7F6DA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52875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15118E9-ACB8-42D3-B36A-D429EFD8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0050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混合增压思路说明氧侧安全和启动/异常工况可能需要补偿路径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1D14CE2-E1A2-45F6-8A0F-FB1ACD88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90625"/>
            <a:ext cx="10191750" cy="331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3D051E5-807E-4591-8985-EACF94C6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05375"/>
            <a:ext cx="3333750" cy="1047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6A9C388-5D54-4354-848D-9F4D1C1F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8157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应用现状判断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8E1A423-5F6D-4167-BD50-2C86390E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3105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公开资料显示液氧/甲烷自生增压已进入工程应用和飞行验证阶段，但细节多不公开；能直接复用的是验证思路和风险边界，而不是完整管路参数。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BDBFA87-3976-40AC-A06B-79B5B606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05375"/>
            <a:ext cx="3333750" cy="1047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9AA5085-9DD8-4D00-8E5C-82170148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98157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国内重点案例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59BAA64-6E86-4DFB-A1B8-58814C7F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67325"/>
            <a:ext cx="3105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朱雀二号甲烷自生增压公开资料提供了控制传感器、阀路冗余、试车/飞行验证描述，是本报告中最适合作为工程对标的资料。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D87A7B5-DE55-4234-92CB-913A24B6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05375"/>
            <a:ext cx="3524250" cy="1047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9CA3AF"/>
            </a:solidFill>
            <a:prstDash val="dash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4F0CCD9-442D-47B0-B89A-509EABD0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38725"/>
            <a:ext cx="3257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这里需要 2-3 张案例图片：</a:t>
            </a:r>
          </a:p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1. Raptor/Starship 管路推测图</a:t>
            </a:r>
          </a:p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2. 朱雀二号自生增压系统原理图</a:t>
            </a:r>
          </a:p>
          <a:p xmlns:a="http://schemas.openxmlformats.org/drawingml/2006/main">
            <a:pPr algn="ctr"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3. New Glenn / BE-4 官方热试图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0B091C6-EE00-4D91-9CCC-C728F5D9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8/9</a:t>
            </a:r>
          </a:p>
        </p:txBody>
      </p:sp>
    </p:spTree>
    <p:extLst>
      <p:ext uri="{BB962C8B-B14F-4D97-AF65-F5344CB8AC3E}">
        <p14:creationId xmlns:p14="http://schemas.microsoft.com/office/powerpoint/2010/main" val="43638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AD9BBB-418D-4EB3-9F87-AD37A224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液氧/甲烷自生增压技术调研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4390B-FEF5-4E29-9B9E-C097A32A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建模、试验与后续研究路线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10607-3F00-4855-9475-CDC56E45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内部学术汇报框架稿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0BBCF-22BB-42F9-B080-A41E593C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DB416-A751-40F9-8255-4610BACB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00025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E2F87-C90D-4CC7-8648-D1DDD4A0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52575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物性与部件模型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REFPROP/CoolProp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阀门/孔板/管路压降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48C6F-F636-412A-A552-F9F3A57C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76375"/>
            <a:ext cx="219075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F412F-28BC-4559-A324-27741B8E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552575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系统一维动力学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贮箱-支路-发动机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状态空间/时域积分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CFE1F-D390-4AD5-8FE7-473A9289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76375"/>
            <a:ext cx="209550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A412F-F793-4BA7-ACF8-D33DAC15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52575"/>
            <a:ext cx="1943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贮箱多节点/CFD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热分层/喷注/晃动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蒸发冷凝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493B2-CEA6-48B3-97CA-7B8573EB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76375"/>
            <a:ext cx="209550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B77F5-35D1-415C-A4C5-19D7EADB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552575"/>
            <a:ext cx="1943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控制律与安全逻辑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前馈+反馈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阀速限制/泄放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24B54-B2B2-4F39-841F-2B0973BD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1809750"/>
            <a:ext cx="3429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A76ACF-395B-44A6-A568-38F2C854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1809750"/>
            <a:ext cx="3429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EA8F58-FB5A-4A6F-8ED6-A0B4F8FA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1809750"/>
            <a:ext cx="3429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72D9C-BB95-4E5D-A22B-4069520F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23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模型链路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7981B4-E912-43AD-9EFC-252E5F48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95625"/>
            <a:ext cx="1809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8E75E-FEB7-48CF-B4AF-18FAC6AF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71825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冷流试验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压降/阀流量/采集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98AEA5-FA9D-40CA-A011-CFE06152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95625"/>
            <a:ext cx="209550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FFF85D-5CF1-4D78-B2E0-CF5587C5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171825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低温贮箱排放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压力/温度分层/增压剂消耗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64A0A0-FBF6-4F98-A17B-B076E202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95625"/>
            <a:ext cx="209550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F04B69-6BDA-43AC-B1F5-8665DE9F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171825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再生冷却换热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出口状态/压降/壁温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A8998E-99D5-4D53-8769-6F008215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95625"/>
            <a:ext cx="209550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44FB0C-8E18-4366-9C5D-66B0A78D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171825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发动机热试车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箱压-阀位-发动机参数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9846C1-BF1A-41BB-A36A-DE554878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875" y="3333750"/>
            <a:ext cx="4000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312631-B01C-40DD-83CA-22933F39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333750"/>
            <a:ext cx="4000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F3D6F6-7082-4D54-80DB-89093F3F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3875" y="3333750"/>
            <a:ext cx="4000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209679-30A7-4790-9ACD-9F2BCA5E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试验链路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63DDBA-9415-42C8-815E-182CDF74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3286125" cy="1524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53B5CE-8A19-4BAB-85E9-D96DF325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62450"/>
            <a:ext cx="3057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课题组可推进的近期任务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9930F5-E66D-43A3-9219-CD8EB6D2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648200"/>
            <a:ext cx="30575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1. 建立 LOX/LCH4 自生增压系统级 lumped-parameter 模型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2. 接入真实气体物性表，替换理想气体近似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3. 梳理甲烷再生冷却出口状态到箱压响应的敏感性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4. 设计启动/深节流/关机余热三类瞬态算例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8C5046-6D46-403A-8FF9-521143ED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86250"/>
            <a:ext cx="3286125" cy="1381125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F59552-CE33-4024-A678-2A0FF5B5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362450"/>
            <a:ext cx="3057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需要校准的数据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6741F8-A685-4BA6-AFAA-1C924C5D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648200"/>
            <a:ext cx="30575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贮箱压力、气枕温度阵列、液位/排放流量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增压支路 P/T/ṁ、阀位、开关时序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再生冷却入口/出口 P/T、壁温、压降</a:t>
            </a:r>
          </a:p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燃烧室压力、泵入口压力、泄放状态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8A5558-62CD-41D8-8A8F-C18D55EB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86250"/>
            <a:ext cx="3286125" cy="1381125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6522DF-3268-4E4A-AB92-F189481E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362450"/>
            <a:ext cx="3057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总括结论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66BF1D-4D99-4533-839F-EADCEACB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648200"/>
            <a:ext cx="30575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工程上必须在系统级一维动力学模型、真实气体物性、部件级换热压降、贮箱多相模型、热试车与飞行遥测校准之间建立闭环。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4B8DD6-73F8-4092-B81C-E7BC0993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9/9</a:t>
            </a:r>
          </a:p>
        </p:txBody>
      </p:sp>
    </p:spTree>
    <p:extLst>
      <p:ext uri="{BB962C8B-B14F-4D97-AF65-F5344CB8AC3E}">
        <p14:creationId xmlns:p14="http://schemas.microsoft.com/office/powerpoint/2010/main" val="622223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2026-06-28T06:40:33.9300000Z</dcterms:created>
  <dcterms:modified xsi:type="dcterms:W3CDTF">2026-06-28T06:40:33.9300000Z</dcterms:modified>
</coreProperties>
</file>